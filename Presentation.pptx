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47" r:id="rId1"/>
  </p:sldMasterIdLst>
  <p:notesMasterIdLst>
    <p:notesMasterId r:id="rId17"/>
  </p:notesMasterIdLst>
  <p:sldIdLst>
    <p:sldId id="256" r:id="rId2"/>
    <p:sldId id="257" r:id="rId3"/>
    <p:sldId id="279" r:id="rId4"/>
    <p:sldId id="259" r:id="rId5"/>
    <p:sldId id="261" r:id="rId6"/>
    <p:sldId id="263" r:id="rId7"/>
    <p:sldId id="269" r:id="rId8"/>
    <p:sldId id="264" r:id="rId9"/>
    <p:sldId id="278" r:id="rId10"/>
    <p:sldId id="270" r:id="rId11"/>
    <p:sldId id="271" r:id="rId12"/>
    <p:sldId id="272" r:id="rId13"/>
    <p:sldId id="275" r:id="rId14"/>
    <p:sldId id="266"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26"/>
    <p:restoredTop sz="79653"/>
  </p:normalViewPr>
  <p:slideViewPr>
    <p:cSldViewPr snapToGrid="0">
      <p:cViewPr>
        <p:scale>
          <a:sx n="96" d="100"/>
          <a:sy n="96" d="100"/>
        </p:scale>
        <p:origin x="240" y="408"/>
      </p:cViewPr>
      <p:guideLst/>
    </p:cSldViewPr>
  </p:slideViewPr>
  <p:notesTextViewPr>
    <p:cViewPr>
      <p:scale>
        <a:sx n="114" d="100"/>
        <a:sy n="114"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D7645-93A1-C64B-8A60-39A2694B151E}" type="datetimeFigureOut">
              <a:rPr lang="en-AU" smtClean="0"/>
              <a:t>22/10/2025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4BD99-4E43-104F-92A0-F8E3BC04E864}" type="slidenum">
              <a:rPr lang="en-AU" smtClean="0"/>
              <a:t>‹#›</a:t>
            </a:fld>
            <a:endParaRPr lang="en-AU"/>
          </a:p>
        </p:txBody>
      </p:sp>
    </p:spTree>
    <p:extLst>
      <p:ext uri="{BB962C8B-B14F-4D97-AF65-F5344CB8AC3E}">
        <p14:creationId xmlns:p14="http://schemas.microsoft.com/office/powerpoint/2010/main" val="1273914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Mention that it is fine to interrupt and ask questions!</a:t>
            </a:r>
          </a:p>
          <a:p>
            <a:pPr marL="171450" indent="-171450">
              <a:buFontTx/>
              <a:buChar char="-"/>
            </a:pPr>
            <a:r>
              <a:rPr lang="en-AU" dirty="0"/>
              <a:t>Describe what is on the slide!</a:t>
            </a:r>
          </a:p>
        </p:txBody>
      </p:sp>
      <p:sp>
        <p:nvSpPr>
          <p:cNvPr id="4" name="Slide Number Placeholder 3"/>
          <p:cNvSpPr>
            <a:spLocks noGrp="1"/>
          </p:cNvSpPr>
          <p:nvPr>
            <p:ph type="sldNum" sz="quarter" idx="5"/>
          </p:nvPr>
        </p:nvSpPr>
        <p:spPr/>
        <p:txBody>
          <a:bodyPr/>
          <a:lstStyle/>
          <a:p>
            <a:fld id="{6E54BD99-4E43-104F-92A0-F8E3BC04E864}" type="slidenum">
              <a:rPr lang="en-AU" smtClean="0"/>
              <a:t>1</a:t>
            </a:fld>
            <a:endParaRPr lang="en-AU"/>
          </a:p>
        </p:txBody>
      </p:sp>
    </p:spTree>
    <p:extLst>
      <p:ext uri="{BB962C8B-B14F-4D97-AF65-F5344CB8AC3E}">
        <p14:creationId xmlns:p14="http://schemas.microsoft.com/office/powerpoint/2010/main" val="66861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Briefly introduce self</a:t>
            </a:r>
          </a:p>
          <a:p>
            <a:pPr marL="171450" indent="-171450">
              <a:buFontTx/>
              <a:buChar char="-"/>
            </a:pPr>
            <a:r>
              <a:rPr lang="en-AU" dirty="0"/>
              <a:t>Working on image segmentation</a:t>
            </a:r>
          </a:p>
          <a:p>
            <a:pPr marL="628650" lvl="1" indent="-171450">
              <a:buFontTx/>
              <a:buChar char="-"/>
            </a:pPr>
            <a:r>
              <a:rPr lang="en-AU" dirty="0"/>
              <a:t>Image segmentation refers to the task of assigning regions of pixels in an image to different classes</a:t>
            </a:r>
          </a:p>
          <a:p>
            <a:pPr marL="628650" lvl="1" indent="-171450">
              <a:buFontTx/>
              <a:buChar char="-"/>
            </a:pPr>
            <a:r>
              <a:rPr lang="en-AU" dirty="0"/>
              <a:t>This could be for things like as computer vision, or in this case, medical imaging, where we want to break a medical scan into pieces with some sort of meaning such as healthy tissue vs tumour tissue</a:t>
            </a:r>
          </a:p>
        </p:txBody>
      </p:sp>
      <p:sp>
        <p:nvSpPr>
          <p:cNvPr id="4" name="Slide Number Placeholder 3"/>
          <p:cNvSpPr>
            <a:spLocks noGrp="1"/>
          </p:cNvSpPr>
          <p:nvPr>
            <p:ph type="sldNum" sz="quarter" idx="5"/>
          </p:nvPr>
        </p:nvSpPr>
        <p:spPr/>
        <p:txBody>
          <a:bodyPr/>
          <a:lstStyle/>
          <a:p>
            <a:fld id="{6E54BD99-4E43-104F-92A0-F8E3BC04E864}" type="slidenum">
              <a:rPr lang="en-AU" smtClean="0"/>
              <a:t>2</a:t>
            </a:fld>
            <a:endParaRPr lang="en-AU"/>
          </a:p>
        </p:txBody>
      </p:sp>
    </p:spTree>
    <p:extLst>
      <p:ext uri="{BB962C8B-B14F-4D97-AF65-F5344CB8AC3E}">
        <p14:creationId xmlns:p14="http://schemas.microsoft.com/office/powerpoint/2010/main" val="3502032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AU" dirty="0"/>
              <a:t>We’ll be looking at a public dataset called the </a:t>
            </a:r>
            <a:r>
              <a:rPr lang="en-AU" dirty="0" err="1"/>
              <a:t>BraTS</a:t>
            </a:r>
            <a:r>
              <a:rPr lang="en-AU" dirty="0"/>
              <a:t> dataset, which consists of 369 MRI scans of glioblastoma patients</a:t>
            </a:r>
          </a:p>
          <a:p>
            <a:pPr marL="628650" lvl="1" indent="-171450">
              <a:buFontTx/>
              <a:buChar char="-"/>
            </a:pPr>
            <a:r>
              <a:rPr lang="en-AU" dirty="0"/>
              <a:t>Each scan, or volume, has hundreds of 2D slices, each in 4 modalities that accentuate different features in the brain by using different imaging techniques</a:t>
            </a:r>
          </a:p>
          <a:p>
            <a:pPr marL="628650" lvl="1" indent="-171450">
              <a:buFontTx/>
              <a:buChar char="-"/>
            </a:pPr>
            <a:r>
              <a:rPr lang="en-AU" dirty="0"/>
              <a:t>All slices have corresponding labels, or ground truth segmentations, made manually</a:t>
            </a:r>
          </a:p>
          <a:p>
            <a:pPr marL="628650" lvl="1" indent="-171450">
              <a:buFontTx/>
              <a:buChar char="-"/>
            </a:pPr>
            <a:r>
              <a:rPr lang="en-AU" dirty="0"/>
              <a:t>Original dataset distinguishes different parts of the tumour – we convert the dataset to a binary segmentation task to simplify</a:t>
            </a:r>
          </a:p>
          <a:p>
            <a:pPr marL="1085850" lvl="2" indent="-171450">
              <a:buFontTx/>
              <a:buChar char="-"/>
            </a:pPr>
            <a:r>
              <a:rPr lang="en-AU" dirty="0"/>
              <a:t>Will refer to the two classes as ‘foreground’ and ‘background’ or tumour and not tumour</a:t>
            </a:r>
          </a:p>
          <a:p>
            <a:pPr marL="628650" lvl="1" indent="-171450">
              <a:buFontTx/>
              <a:buChar char="-"/>
            </a:pPr>
            <a:r>
              <a:rPr lang="en-AU" dirty="0"/>
              <a:t>We also only use 3 of the 4 modalities, which are shown in these images as red, green and blue channels</a:t>
            </a:r>
          </a:p>
        </p:txBody>
      </p:sp>
      <p:sp>
        <p:nvSpPr>
          <p:cNvPr id="4" name="Slide Number Placeholder 3"/>
          <p:cNvSpPr>
            <a:spLocks noGrp="1"/>
          </p:cNvSpPr>
          <p:nvPr>
            <p:ph type="sldNum" sz="quarter" idx="5"/>
          </p:nvPr>
        </p:nvSpPr>
        <p:spPr/>
        <p:txBody>
          <a:bodyPr/>
          <a:lstStyle/>
          <a:p>
            <a:fld id="{6E54BD99-4E43-104F-92A0-F8E3BC04E864}" type="slidenum">
              <a:rPr lang="en-AU" smtClean="0"/>
              <a:t>3</a:t>
            </a:fld>
            <a:endParaRPr lang="en-AU"/>
          </a:p>
        </p:txBody>
      </p:sp>
    </p:spTree>
    <p:extLst>
      <p:ext uri="{BB962C8B-B14F-4D97-AF65-F5344CB8AC3E}">
        <p14:creationId xmlns:p14="http://schemas.microsoft.com/office/powerpoint/2010/main" val="3938787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To apply machine learning, we need training data</a:t>
            </a:r>
          </a:p>
          <a:p>
            <a:pPr marL="171450" indent="-171450">
              <a:buFontTx/>
              <a:buChar char="-"/>
            </a:pPr>
            <a:r>
              <a:rPr lang="en-AU" dirty="0"/>
              <a:t>Gold standard is labelled data</a:t>
            </a:r>
          </a:p>
          <a:p>
            <a:r>
              <a:rPr lang="en-AU" dirty="0"/>
              <a:t>Unfortunately we cannot always rely on having a large labelled dataset:</a:t>
            </a:r>
          </a:p>
          <a:p>
            <a:pPr marL="171450" indent="-171450">
              <a:buFontTx/>
              <a:buChar char="-"/>
            </a:pPr>
            <a:r>
              <a:rPr lang="en-AU" dirty="0"/>
              <a:t>Labelling data is time intensive and in the case of medical image segmentation, requires specialists to manually label scans</a:t>
            </a:r>
          </a:p>
          <a:p>
            <a:pPr marL="171450" indent="-171450">
              <a:buFontTx/>
              <a:buChar char="-"/>
            </a:pPr>
            <a:r>
              <a:rPr lang="en-AU" dirty="0"/>
              <a:t>Unlabelled data is much easier to obtain in very large volumes</a:t>
            </a:r>
          </a:p>
          <a:p>
            <a:pPr marL="171450" indent="-171450">
              <a:buFontTx/>
              <a:buChar char="-"/>
            </a:pPr>
            <a:r>
              <a:rPr lang="en-AU" dirty="0"/>
              <a:t>We would like a way to use a very large unlabelled dataset in conjunction with a small labelled dataset to train a model</a:t>
            </a:r>
          </a:p>
          <a:p>
            <a:pPr marL="171450" lvl="0" indent="-171450">
              <a:buFontTx/>
              <a:buChar char="-"/>
            </a:pPr>
            <a:r>
              <a:rPr lang="en-AU" dirty="0"/>
              <a:t>The most common ways of doing this are pseudo-labelling and consistency regularisation</a:t>
            </a:r>
          </a:p>
          <a:p>
            <a:pPr marL="628650" lvl="1" indent="-171450">
              <a:buFontTx/>
              <a:buChar char="-"/>
            </a:pPr>
            <a:r>
              <a:rPr lang="en-AU" dirty="0"/>
              <a:t>In pseudo-labelling we create artificial labels for unlabelled data using the model</a:t>
            </a:r>
          </a:p>
          <a:p>
            <a:pPr marL="628650" lvl="1" indent="-171450">
              <a:buFontTx/>
              <a:buChar char="-"/>
            </a:pPr>
            <a:r>
              <a:rPr lang="en-AU" dirty="0"/>
              <a:t>In consistency regularisation we try to encourage the model to give the same output under different augmentations to the input through a consistency loss</a:t>
            </a:r>
          </a:p>
          <a:p>
            <a:pPr marL="1085850" lvl="2" indent="-171450">
              <a:buFontTx/>
              <a:buChar char="-"/>
            </a:pPr>
            <a:r>
              <a:rPr lang="en-AU" dirty="0"/>
              <a:t>A nice analogy is if you are given a problem set in your maths class but they don’t release solutions, you and your friend can try doing the problem in different ways, and if you get the same solution, you can be more confident that it is correct.</a:t>
            </a:r>
          </a:p>
        </p:txBody>
      </p:sp>
      <p:sp>
        <p:nvSpPr>
          <p:cNvPr id="4" name="Slide Number Placeholder 3"/>
          <p:cNvSpPr>
            <a:spLocks noGrp="1"/>
          </p:cNvSpPr>
          <p:nvPr>
            <p:ph type="sldNum" sz="quarter" idx="5"/>
          </p:nvPr>
        </p:nvSpPr>
        <p:spPr/>
        <p:txBody>
          <a:bodyPr/>
          <a:lstStyle/>
          <a:p>
            <a:fld id="{6E54BD99-4E43-104F-92A0-F8E3BC04E864}" type="slidenum">
              <a:rPr lang="en-AU" smtClean="0"/>
              <a:t>4</a:t>
            </a:fld>
            <a:endParaRPr lang="en-AU"/>
          </a:p>
        </p:txBody>
      </p:sp>
    </p:spTree>
    <p:extLst>
      <p:ext uri="{BB962C8B-B14F-4D97-AF65-F5344CB8AC3E}">
        <p14:creationId xmlns:p14="http://schemas.microsoft.com/office/powerpoint/2010/main" val="2269119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The way that we’ll be doing image segmentation is using a neural network architecture called the U-net.</a:t>
            </a:r>
          </a:p>
          <a:p>
            <a:pPr marL="171450" indent="-171450">
              <a:buFontTx/>
              <a:buChar char="-"/>
            </a:pPr>
            <a:r>
              <a:rPr lang="en-AU" dirty="0"/>
              <a:t>The U-net is a very popular and lightweight way to apply CNNs to image segmentation problems</a:t>
            </a:r>
          </a:p>
          <a:p>
            <a:pPr marL="171450" indent="-171450">
              <a:buFontTx/>
              <a:buChar char="-"/>
            </a:pPr>
            <a:r>
              <a:rPr lang="en-AU" dirty="0"/>
              <a:t>We apply convolutions to begin extracting features in a ‘contracting path’</a:t>
            </a:r>
          </a:p>
          <a:p>
            <a:pPr marL="628650" lvl="1" indent="-171450">
              <a:buFontTx/>
              <a:buChar char="-"/>
            </a:pPr>
            <a:r>
              <a:rPr lang="en-AU" dirty="0"/>
              <a:t>The reduction in the dimension of information as it passes through forces the network to learn high level features rather than overfitting to the training set</a:t>
            </a:r>
          </a:p>
          <a:p>
            <a:pPr marL="628650" lvl="1" indent="-171450">
              <a:buFontTx/>
              <a:buChar char="-"/>
            </a:pPr>
            <a:r>
              <a:rPr lang="en-AU" dirty="0"/>
              <a:t>An expanding path then </a:t>
            </a:r>
            <a:r>
              <a:rPr lang="en-AU" dirty="0" err="1"/>
              <a:t>upsamples</a:t>
            </a:r>
            <a:r>
              <a:rPr lang="en-AU" dirty="0"/>
              <a:t> this, and concatenates the earlier layers through skip connections to reintroduce finer details to give a high quality segmentation</a:t>
            </a:r>
          </a:p>
          <a:p>
            <a:pPr marL="628650" lvl="1" indent="-171450">
              <a:buFontTx/>
              <a:buChar char="-"/>
            </a:pPr>
            <a:endParaRPr lang="en-AU" dirty="0"/>
          </a:p>
          <a:p>
            <a:pPr marL="171450" lvl="0" indent="-171450">
              <a:buFontTx/>
              <a:buChar char="-"/>
            </a:pPr>
            <a:r>
              <a:rPr lang="en-AU" dirty="0"/>
              <a:t>In this work, we initialise the weights in the contracting path with weights from an existing image classification network, MobileNetV2</a:t>
            </a:r>
          </a:p>
          <a:p>
            <a:pPr marL="628650" lvl="1" indent="-171450">
              <a:buFontTx/>
              <a:buChar char="-"/>
            </a:pPr>
            <a:r>
              <a:rPr lang="en-AU" dirty="0"/>
              <a:t>Takes less time to train the network</a:t>
            </a:r>
          </a:p>
          <a:p>
            <a:pPr marL="171450" lvl="0" indent="-171450">
              <a:buFontTx/>
              <a:buChar char="-"/>
            </a:pPr>
            <a:r>
              <a:rPr lang="en-AU" dirty="0"/>
              <a:t>Mention existence of appendix!</a:t>
            </a:r>
          </a:p>
        </p:txBody>
      </p:sp>
      <p:sp>
        <p:nvSpPr>
          <p:cNvPr id="4" name="Slide Number Placeholder 3"/>
          <p:cNvSpPr>
            <a:spLocks noGrp="1"/>
          </p:cNvSpPr>
          <p:nvPr>
            <p:ph type="sldNum" sz="quarter" idx="5"/>
          </p:nvPr>
        </p:nvSpPr>
        <p:spPr/>
        <p:txBody>
          <a:bodyPr/>
          <a:lstStyle/>
          <a:p>
            <a:fld id="{6E54BD99-4E43-104F-92A0-F8E3BC04E864}" type="slidenum">
              <a:rPr lang="en-AU" smtClean="0"/>
              <a:t>5</a:t>
            </a:fld>
            <a:endParaRPr lang="en-AU"/>
          </a:p>
        </p:txBody>
      </p:sp>
    </p:spTree>
    <p:extLst>
      <p:ext uri="{BB962C8B-B14F-4D97-AF65-F5344CB8AC3E}">
        <p14:creationId xmlns:p14="http://schemas.microsoft.com/office/powerpoint/2010/main" val="2937827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standard way to train this network is by defining a supervised loss, where we measure how bad the model’s prediction is on some labelled training data</a:t>
            </a:r>
          </a:p>
          <a:p>
            <a:r>
              <a:rPr lang="en-AU" dirty="0"/>
              <a:t>For each pixel, the U-net gives values for each class, with higher value indicating higher confidence in that class</a:t>
            </a:r>
          </a:p>
          <a:p>
            <a:pPr marL="171450" indent="-171450">
              <a:buFontTx/>
              <a:buChar char="-"/>
            </a:pPr>
            <a:r>
              <a:rPr lang="en-AU" dirty="0"/>
              <a:t>We convert these values to a probability distribution via </a:t>
            </a:r>
            <a:r>
              <a:rPr lang="en-AU" dirty="0" err="1"/>
              <a:t>softmax</a:t>
            </a:r>
            <a:r>
              <a:rPr lang="en-AU" dirty="0"/>
              <a:t>, defined as shown</a:t>
            </a:r>
          </a:p>
          <a:p>
            <a:pPr marL="171450" indent="-171450">
              <a:buFontTx/>
              <a:buChar char="-"/>
            </a:pPr>
            <a:r>
              <a:rPr lang="en-AU" dirty="0" err="1"/>
              <a:t>Softmax</a:t>
            </a:r>
            <a:r>
              <a:rPr lang="en-AU" dirty="0"/>
              <a:t> outputs are then compared to a ground truth distribution by the categorical cross-entropy loss</a:t>
            </a:r>
          </a:p>
          <a:p>
            <a:pPr marL="628650" lvl="1" indent="-171450">
              <a:buFontTx/>
              <a:buChar char="-"/>
            </a:pPr>
            <a:r>
              <a:rPr lang="en-AU" dirty="0"/>
              <a:t>This loss function is very popular for classification problems as it penalises unconfident answers, even if it turns out to be correct</a:t>
            </a:r>
          </a:p>
          <a:p>
            <a:pPr marL="171450" lvl="0" indent="-171450">
              <a:buFontTx/>
              <a:buChar char="-"/>
            </a:pPr>
            <a:r>
              <a:rPr lang="en-AU" dirty="0"/>
              <a:t>The goal of training is to minimise this loss</a:t>
            </a:r>
          </a:p>
        </p:txBody>
      </p:sp>
      <p:sp>
        <p:nvSpPr>
          <p:cNvPr id="4" name="Slide Number Placeholder 3"/>
          <p:cNvSpPr>
            <a:spLocks noGrp="1"/>
          </p:cNvSpPr>
          <p:nvPr>
            <p:ph type="sldNum" sz="quarter" idx="5"/>
          </p:nvPr>
        </p:nvSpPr>
        <p:spPr/>
        <p:txBody>
          <a:bodyPr/>
          <a:lstStyle/>
          <a:p>
            <a:fld id="{6E54BD99-4E43-104F-92A0-F8E3BC04E864}" type="slidenum">
              <a:rPr lang="en-AU" smtClean="0"/>
              <a:t>6</a:t>
            </a:fld>
            <a:endParaRPr lang="en-AU"/>
          </a:p>
        </p:txBody>
      </p:sp>
    </p:spTree>
    <p:extLst>
      <p:ext uri="{BB962C8B-B14F-4D97-AF65-F5344CB8AC3E}">
        <p14:creationId xmlns:p14="http://schemas.microsoft.com/office/powerpoint/2010/main" val="4082215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 We need a way to evaluate how good a segmentation is given the ground truth segmentation</a:t>
            </a:r>
          </a:p>
          <a:p>
            <a:pPr marL="171450" indent="-171450">
              <a:buFontTx/>
              <a:buChar char="-"/>
            </a:pPr>
            <a:r>
              <a:rPr lang="en-AU" dirty="0"/>
              <a:t>A simple way would be to calculate the proportion of correctly segmented pixels, but this runs into problems</a:t>
            </a:r>
          </a:p>
          <a:p>
            <a:pPr marL="628650" lvl="1" indent="-171450">
              <a:buFontTx/>
              <a:buChar char="-"/>
            </a:pPr>
            <a:r>
              <a:rPr lang="en-AU" dirty="0"/>
              <a:t>If the foreground is small compared to the background, then the model can get very high accuracy by simply segmenting everything as background</a:t>
            </a:r>
          </a:p>
          <a:p>
            <a:pPr marL="171450" lvl="0" indent="-171450">
              <a:buFontTx/>
              <a:buChar char="-"/>
            </a:pPr>
            <a:r>
              <a:rPr lang="en-AU" dirty="0"/>
              <a:t>This is addressed by the Dice metric</a:t>
            </a:r>
          </a:p>
          <a:p>
            <a:pPr marL="628650" lvl="1" indent="-171450">
              <a:buFontTx/>
              <a:buChar char="-"/>
            </a:pPr>
            <a:r>
              <a:rPr lang="en-AU" dirty="0"/>
              <a:t>Ratio of correctly segmented foreground pixels to total foreground pixels in both prediction and ground truth</a:t>
            </a:r>
          </a:p>
          <a:p>
            <a:pPr marL="628650" lvl="1" indent="-171450">
              <a:buFontTx/>
              <a:buChar char="-"/>
            </a:pPr>
            <a:r>
              <a:rPr lang="en-AU" dirty="0"/>
              <a:t>Ranges from 0 to 1 – segmenting all background will now give the worst score of zero, and a perfect seg only will give 1</a:t>
            </a:r>
          </a:p>
          <a:p>
            <a:pPr marL="171450" lvl="0" indent="-171450">
              <a:buFontTx/>
              <a:buChar char="-"/>
            </a:pPr>
            <a:r>
              <a:rPr lang="en-AU" dirty="0"/>
              <a:t>On a related note, we can also define the soft dice loss, which is essentially one minus the dice score, but is also generalised to work on probability distributions on segmentation classes</a:t>
            </a:r>
          </a:p>
        </p:txBody>
      </p:sp>
      <p:sp>
        <p:nvSpPr>
          <p:cNvPr id="4" name="Slide Number Placeholder 3"/>
          <p:cNvSpPr>
            <a:spLocks noGrp="1"/>
          </p:cNvSpPr>
          <p:nvPr>
            <p:ph type="sldNum" sz="quarter" idx="5"/>
          </p:nvPr>
        </p:nvSpPr>
        <p:spPr/>
        <p:txBody>
          <a:bodyPr/>
          <a:lstStyle/>
          <a:p>
            <a:fld id="{6E54BD99-4E43-104F-92A0-F8E3BC04E864}" type="slidenum">
              <a:rPr lang="en-AU" smtClean="0"/>
              <a:t>7</a:t>
            </a:fld>
            <a:endParaRPr lang="en-AU"/>
          </a:p>
        </p:txBody>
      </p:sp>
    </p:spTree>
    <p:extLst>
      <p:ext uri="{BB962C8B-B14F-4D97-AF65-F5344CB8AC3E}">
        <p14:creationId xmlns:p14="http://schemas.microsoft.com/office/powerpoint/2010/main" val="3689737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focus of my project has been to implement an unsupervised consistency loss leveraging the multimodal information available in the </a:t>
            </a:r>
            <a:r>
              <a:rPr lang="en-AU" dirty="0" err="1"/>
              <a:t>BraTS</a:t>
            </a:r>
            <a:r>
              <a:rPr lang="en-AU" dirty="0"/>
              <a:t> dataset</a:t>
            </a:r>
          </a:p>
          <a:p>
            <a:r>
              <a:rPr lang="en-AU" dirty="0"/>
              <a:t>The core observation leading to this approach is that a perfect algorithm should be able to produce the correct segmentation even if some of the modalities are missing.</a:t>
            </a:r>
          </a:p>
          <a:p>
            <a:pPr marL="171450" indent="-171450">
              <a:buFontTx/>
              <a:buChar char="-"/>
            </a:pPr>
            <a:r>
              <a:rPr lang="en-AU" dirty="0"/>
              <a:t>Then for an unlabelled slice with 3 modalities, we produce 3 predictions, each with one modality missing.</a:t>
            </a:r>
          </a:p>
          <a:p>
            <a:pPr marL="628650" lvl="1" indent="-171450">
              <a:buFontTx/>
              <a:buChar char="-"/>
            </a:pPr>
            <a:r>
              <a:rPr lang="en-AU" dirty="0"/>
              <a:t>Connect to colours</a:t>
            </a:r>
          </a:p>
          <a:p>
            <a:pPr marL="171450" indent="-171450">
              <a:buFontTx/>
              <a:buChar char="-"/>
            </a:pPr>
            <a:r>
              <a:rPr lang="en-AU" dirty="0"/>
              <a:t>Then we take the mean </a:t>
            </a:r>
            <a:r>
              <a:rPr lang="en-AU" dirty="0" err="1"/>
              <a:t>softmax</a:t>
            </a:r>
            <a:r>
              <a:rPr lang="en-AU" dirty="0"/>
              <a:t> output, and for each of the predictions compute the soft dice loss with the mean output</a:t>
            </a:r>
          </a:p>
          <a:p>
            <a:pPr marL="171450" indent="-171450">
              <a:buFontTx/>
              <a:buChar char="-"/>
            </a:pPr>
            <a:r>
              <a:rPr lang="en-AU" dirty="0"/>
              <a:t>These three losses are averaged to give a final consistency loss, which represents how similar these predictions are</a:t>
            </a:r>
          </a:p>
          <a:p>
            <a:pPr marL="171450" indent="-171450">
              <a:buFontTx/>
              <a:buChar char="-"/>
            </a:pPr>
            <a:r>
              <a:rPr lang="en-AU" dirty="0"/>
              <a:t>To minimise this loss is to tell the network to try really hard to use all three modalities rather than becoming dependent on just one of them</a:t>
            </a:r>
          </a:p>
          <a:p>
            <a:pPr marL="171450" indent="-171450">
              <a:buFontTx/>
              <a:buChar char="-"/>
            </a:pPr>
            <a:r>
              <a:rPr lang="en-AU" dirty="0"/>
              <a:t>Importantly, we do this with lots of unlabelled data, so the model is able to ‘see’ a better representation of what brain tumours look like</a:t>
            </a:r>
          </a:p>
          <a:p>
            <a:pPr marL="171450" indent="-171450">
              <a:buFontTx/>
              <a:buChar char="-"/>
            </a:pPr>
            <a:endParaRPr lang="en-AU" dirty="0"/>
          </a:p>
          <a:p>
            <a:pPr marL="171450" indent="-171450">
              <a:buFontTx/>
              <a:buChar char="-"/>
            </a:pPr>
            <a:r>
              <a:rPr lang="en-AU" dirty="0"/>
              <a:t>This loss is meaningless at first – the model must first be able to produce slightly reasonable predictions</a:t>
            </a:r>
          </a:p>
          <a:p>
            <a:pPr marL="171450" indent="-171450">
              <a:buFontTx/>
              <a:buChar char="-"/>
            </a:pPr>
            <a:r>
              <a:rPr lang="en-AU" dirty="0"/>
              <a:t>We introduce a weight schedule</a:t>
            </a:r>
          </a:p>
          <a:p>
            <a:pPr marL="171450" indent="-171450">
              <a:buFontTx/>
              <a:buChar char="-"/>
            </a:pPr>
            <a:r>
              <a:rPr lang="en-AU" dirty="0"/>
              <a:t>We begin by training the model in a fully supervised fashion, then ramp up the contribution of the unsupervised loss to the total loss as training progresses</a:t>
            </a:r>
          </a:p>
        </p:txBody>
      </p:sp>
      <p:sp>
        <p:nvSpPr>
          <p:cNvPr id="4" name="Slide Number Placeholder 3"/>
          <p:cNvSpPr>
            <a:spLocks noGrp="1"/>
          </p:cNvSpPr>
          <p:nvPr>
            <p:ph type="sldNum" sz="quarter" idx="5"/>
          </p:nvPr>
        </p:nvSpPr>
        <p:spPr/>
        <p:txBody>
          <a:bodyPr/>
          <a:lstStyle/>
          <a:p>
            <a:fld id="{6E54BD99-4E43-104F-92A0-F8E3BC04E864}" type="slidenum">
              <a:rPr lang="en-AU" smtClean="0"/>
              <a:t>8</a:t>
            </a:fld>
            <a:endParaRPr lang="en-AU"/>
          </a:p>
        </p:txBody>
      </p:sp>
    </p:spTree>
    <p:extLst>
      <p:ext uri="{BB962C8B-B14F-4D97-AF65-F5344CB8AC3E}">
        <p14:creationId xmlns:p14="http://schemas.microsoft.com/office/powerpoint/2010/main" val="1164607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a:t>
            </a:r>
            <a:r>
              <a:rPr lang="en-AU" sz="1800" dirty="0"/>
              <a:t> need a way to see if SSL is worth doing.</a:t>
            </a:r>
          </a:p>
          <a:p>
            <a:pPr marL="285750" indent="-285750">
              <a:buFontTx/>
              <a:buChar char="-"/>
            </a:pPr>
            <a:r>
              <a:rPr lang="en-AU" sz="1800" dirty="0"/>
              <a:t>We select a small number of training volumes to be our labelled dataset</a:t>
            </a:r>
          </a:p>
          <a:p>
            <a:pPr marL="742950" lvl="1" indent="-285750">
              <a:buFontTx/>
              <a:buChar char="-"/>
            </a:pPr>
            <a:r>
              <a:rPr lang="en-AU" sz="1800" dirty="0"/>
              <a:t>I ran this test with 1, 3, 7, 15, 30, 60, 150 and 300 labelled volumes to cover a few orders of magnitude</a:t>
            </a:r>
          </a:p>
          <a:p>
            <a:pPr marL="171450" indent="-171450">
              <a:buFontTx/>
              <a:buChar char="-"/>
            </a:pPr>
            <a:r>
              <a:rPr lang="en-AU" sz="1800" dirty="0"/>
              <a:t>We also select some validation volumes, which the model will never use to train itself</a:t>
            </a:r>
          </a:p>
          <a:p>
            <a:pPr marL="628650" lvl="1" indent="-171450">
              <a:buFontTx/>
              <a:buChar char="-"/>
            </a:pPr>
            <a:r>
              <a:rPr lang="en-AU" sz="1800" dirty="0"/>
              <a:t>These are used to gauge the model’s performance throughout training</a:t>
            </a:r>
          </a:p>
          <a:p>
            <a:pPr marL="171450" indent="-171450">
              <a:buFontTx/>
              <a:buChar char="-"/>
            </a:pPr>
            <a:r>
              <a:rPr lang="en-AU" sz="1800" dirty="0"/>
              <a:t>The rest is unlabelled data – which is only used by the SSL model</a:t>
            </a:r>
          </a:p>
          <a:p>
            <a:pPr marL="171450" indent="-171450">
              <a:buFontTx/>
              <a:buChar char="-"/>
            </a:pPr>
            <a:r>
              <a:rPr lang="en-AU" dirty="0"/>
              <a:t>Then, if we have, say, 15 labelled volumes, we train a fully-supervised model on those 15 labelled volumes a bunch of times</a:t>
            </a:r>
          </a:p>
          <a:p>
            <a:pPr marL="171450" indent="-171450">
              <a:buFontTx/>
              <a:buChar char="-"/>
            </a:pPr>
            <a:r>
              <a:rPr lang="en-AU" dirty="0"/>
              <a:t>Then, train a model with SSL on those 15 labelled volumes with the rest of the dataset unlabelled a bunch of times</a:t>
            </a:r>
          </a:p>
          <a:p>
            <a:pPr marL="171450" indent="-171450">
              <a:buFontTx/>
              <a:buChar char="-"/>
            </a:pPr>
            <a:endParaRPr lang="en-AU" dirty="0"/>
          </a:p>
        </p:txBody>
      </p:sp>
      <p:sp>
        <p:nvSpPr>
          <p:cNvPr id="4" name="Slide Number Placeholder 3"/>
          <p:cNvSpPr>
            <a:spLocks noGrp="1"/>
          </p:cNvSpPr>
          <p:nvPr>
            <p:ph type="sldNum" sz="quarter" idx="5"/>
          </p:nvPr>
        </p:nvSpPr>
        <p:spPr/>
        <p:txBody>
          <a:bodyPr/>
          <a:lstStyle/>
          <a:p>
            <a:fld id="{6E54BD99-4E43-104F-92A0-F8E3BC04E864}" type="slidenum">
              <a:rPr lang="en-AU" smtClean="0"/>
              <a:t>9</a:t>
            </a:fld>
            <a:endParaRPr lang="en-AU"/>
          </a:p>
        </p:txBody>
      </p:sp>
    </p:spTree>
    <p:extLst>
      <p:ext uri="{BB962C8B-B14F-4D97-AF65-F5344CB8AC3E}">
        <p14:creationId xmlns:p14="http://schemas.microsoft.com/office/powerpoint/2010/main" val="398423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Onto results – </a:t>
            </a:r>
          </a:p>
          <a:p>
            <a:pPr marL="171450" indent="-171450">
              <a:buFontTx/>
              <a:buChar char="-"/>
            </a:pPr>
            <a:r>
              <a:rPr lang="en-AU" dirty="0"/>
              <a:t>First thing to note: due to limitations in time and computation, I collected more data in some cases, but this is reflected in the statistical analysis of the results</a:t>
            </a:r>
          </a:p>
          <a:p>
            <a:pPr marL="171450" indent="-171450">
              <a:buFontTx/>
              <a:buChar char="-"/>
            </a:pPr>
            <a:r>
              <a:rPr lang="en-AU" dirty="0"/>
              <a:t>The plots at the top are the dice score on validation data as the model trains, so we can see that the lines trend upwards and remain between 0 and 1, so the model is in fact learning something! </a:t>
            </a:r>
          </a:p>
          <a:p>
            <a:pPr marL="628650" lvl="1" indent="-171450">
              <a:buFontTx/>
              <a:buChar char="-"/>
            </a:pPr>
            <a:r>
              <a:rPr lang="en-AU" dirty="0"/>
              <a:t>Elaborate what the plots are showing first!</a:t>
            </a:r>
          </a:p>
          <a:p>
            <a:pPr marL="171450" indent="-171450">
              <a:buFontTx/>
              <a:buChar char="-"/>
            </a:pPr>
            <a:r>
              <a:rPr lang="en-AU" dirty="0"/>
              <a:t>We can see, especially in the purple line here, which is the fully supervised model, and all the training runs on the right, that the dice score begins to drop off after reaching an optimum</a:t>
            </a:r>
          </a:p>
          <a:p>
            <a:pPr marL="171450" indent="-171450">
              <a:buFontTx/>
              <a:buChar char="-"/>
            </a:pPr>
            <a:r>
              <a:rPr lang="en-AU" dirty="0"/>
              <a:t>This is because the model begins to overfit, where it essentially starts to just memorise the training data to reduce the loss instead of learning general patterns – and this is a common limitation we encounter when working with small datasets</a:t>
            </a:r>
          </a:p>
          <a:p>
            <a:pPr marL="171450" indent="-171450">
              <a:buFontTx/>
              <a:buChar char="-"/>
            </a:pPr>
            <a:r>
              <a:rPr lang="en-AU" dirty="0"/>
              <a:t>We can also see a really steep drop initially – this is because the model starts with some pretrained weights that lead to the initial segmentation picking up some features and on average giving a 50-50 segmentation. The model then has to unlearn some features in the contracting path and oftentimes will segment everything as background momentarily, which leads to this dip</a:t>
            </a:r>
          </a:p>
          <a:p>
            <a:pPr marL="171450" indent="-171450">
              <a:buFontTx/>
              <a:buChar char="-"/>
            </a:pPr>
            <a:r>
              <a:rPr lang="en-AU" dirty="0"/>
              <a:t>We also see that the models with SSL converge to each other, and appear to be more stable during training, as well as being more resistant to overfitting. Fully supervised models sometimes do poorly and cannot recover</a:t>
            </a:r>
          </a:p>
          <a:p>
            <a:pPr marL="171450" indent="-171450">
              <a:buFontTx/>
              <a:buChar char="-"/>
            </a:pPr>
            <a:endParaRPr lang="en-AU" dirty="0"/>
          </a:p>
        </p:txBody>
      </p:sp>
      <p:sp>
        <p:nvSpPr>
          <p:cNvPr id="4" name="Slide Number Placeholder 3"/>
          <p:cNvSpPr>
            <a:spLocks noGrp="1"/>
          </p:cNvSpPr>
          <p:nvPr>
            <p:ph type="sldNum" sz="quarter" idx="5"/>
          </p:nvPr>
        </p:nvSpPr>
        <p:spPr/>
        <p:txBody>
          <a:bodyPr/>
          <a:lstStyle/>
          <a:p>
            <a:fld id="{6E54BD99-4E43-104F-92A0-F8E3BC04E864}" type="slidenum">
              <a:rPr lang="en-AU" smtClean="0"/>
              <a:t>10</a:t>
            </a:fld>
            <a:endParaRPr lang="en-AU"/>
          </a:p>
        </p:txBody>
      </p:sp>
    </p:spTree>
    <p:extLst>
      <p:ext uri="{BB962C8B-B14F-4D97-AF65-F5344CB8AC3E}">
        <p14:creationId xmlns:p14="http://schemas.microsoft.com/office/powerpoint/2010/main" val="1564225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main results:</a:t>
            </a:r>
          </a:p>
          <a:p>
            <a:pPr marL="171450" indent="-171450">
              <a:buFontTx/>
              <a:buChar char="-"/>
            </a:pPr>
            <a:r>
              <a:rPr lang="en-AU" dirty="0"/>
              <a:t>The general metric I used for comparing the SSL model to the fully supervised model was the mean best dice score</a:t>
            </a:r>
          </a:p>
          <a:p>
            <a:pPr marL="628650" lvl="1" indent="-171450">
              <a:buFontTx/>
              <a:buChar char="-"/>
            </a:pPr>
            <a:r>
              <a:rPr lang="en-AU" dirty="0"/>
              <a:t>Go to previous slide</a:t>
            </a:r>
          </a:p>
          <a:p>
            <a:pPr marL="171450" indent="-171450">
              <a:buFontTx/>
              <a:buChar char="-"/>
            </a:pPr>
            <a:r>
              <a:rPr lang="en-AU" dirty="0"/>
              <a:t>When we have extremely small labelled datasets – less than 1% - SSL and fully supervised perform about the same</a:t>
            </a:r>
          </a:p>
          <a:p>
            <a:pPr marL="628650" lvl="1" indent="-171450">
              <a:buFontTx/>
              <a:buChar char="-"/>
            </a:pPr>
            <a:r>
              <a:rPr lang="en-AU" dirty="0"/>
              <a:t>Going back to a point I made earlier, this is because the labelled dataset is too small to give reasonable predictions – the consistency loss becomes meaningless</a:t>
            </a:r>
          </a:p>
          <a:p>
            <a:pPr marL="171450" lvl="0" indent="-171450">
              <a:buFontTx/>
              <a:buChar char="-"/>
            </a:pPr>
            <a:r>
              <a:rPr lang="en-AU" dirty="0"/>
              <a:t>We also see that when more than half of the dataset is labelled, the improvement from SSL again disappears</a:t>
            </a:r>
          </a:p>
          <a:p>
            <a:pPr marL="628650" lvl="1" indent="-171450">
              <a:buFontTx/>
              <a:buChar char="-"/>
            </a:pPr>
            <a:r>
              <a:rPr lang="en-AU" dirty="0"/>
              <a:t>This is because fully supervised learning actually works quite well when we have this many labelled volumes, and in the limiting case of 100% of the dataset, SSL and fully supervised end up being the same algorithm so we certainly expect the same performance</a:t>
            </a:r>
          </a:p>
          <a:p>
            <a:pPr marL="628650" lvl="1" indent="-171450">
              <a:buFontTx/>
              <a:buChar char="-"/>
            </a:pPr>
            <a:r>
              <a:rPr lang="en-AU" dirty="0"/>
              <a:t>But this regime is not really relevant to our problem because we are interested in training networks on very small amounts of labelled data</a:t>
            </a:r>
          </a:p>
          <a:p>
            <a:pPr marL="171450" indent="-171450">
              <a:buFontTx/>
              <a:buChar char="-"/>
            </a:pPr>
            <a:r>
              <a:rPr lang="en-AU" dirty="0"/>
              <a:t>This is fairly typical to see in semi-supervised learning</a:t>
            </a:r>
          </a:p>
          <a:p>
            <a:pPr marL="171450" indent="-171450">
              <a:buFontTx/>
              <a:buChar char="-"/>
            </a:pPr>
            <a:r>
              <a:rPr lang="en-AU" dirty="0"/>
              <a:t>We have a very statistically significant improvement in performance when 5-20% of the dataset is labelled, accompanied by some fairly large increases in dice score</a:t>
            </a:r>
          </a:p>
          <a:p>
            <a:pPr marL="171450" indent="-171450">
              <a:buFontTx/>
              <a:buChar char="-"/>
            </a:pPr>
            <a:r>
              <a:rPr lang="en-AU" dirty="0"/>
              <a:t>For 15 labelled volumes, we have an improvement of 0.12 in dice score</a:t>
            </a:r>
          </a:p>
          <a:p>
            <a:pPr marL="171450" indent="-171450">
              <a:buFontTx/>
              <a:buChar char="-"/>
            </a:pPr>
            <a:r>
              <a:rPr lang="en-AU" dirty="0"/>
              <a:t>fully-supervised model with all data labelled reaches 0.927 mean best Dice score, and we can achieve 0.922 with the SSL algorithm with only 20% of the dataset labelled</a:t>
            </a:r>
          </a:p>
        </p:txBody>
      </p:sp>
      <p:sp>
        <p:nvSpPr>
          <p:cNvPr id="4" name="Slide Number Placeholder 3"/>
          <p:cNvSpPr>
            <a:spLocks noGrp="1"/>
          </p:cNvSpPr>
          <p:nvPr>
            <p:ph type="sldNum" sz="quarter" idx="5"/>
          </p:nvPr>
        </p:nvSpPr>
        <p:spPr/>
        <p:txBody>
          <a:bodyPr/>
          <a:lstStyle/>
          <a:p>
            <a:fld id="{6E54BD99-4E43-104F-92A0-F8E3BC04E864}" type="slidenum">
              <a:rPr lang="en-AU" smtClean="0"/>
              <a:t>11</a:t>
            </a:fld>
            <a:endParaRPr lang="en-AU"/>
          </a:p>
        </p:txBody>
      </p:sp>
    </p:spTree>
    <p:extLst>
      <p:ext uri="{BB962C8B-B14F-4D97-AF65-F5344CB8AC3E}">
        <p14:creationId xmlns:p14="http://schemas.microsoft.com/office/powerpoint/2010/main" val="3413193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conclude:</a:t>
            </a:r>
          </a:p>
          <a:p>
            <a:pPr marL="171450" indent="-171450">
              <a:buFontTx/>
              <a:buChar char="-"/>
            </a:pPr>
            <a:r>
              <a:rPr lang="en-AU" dirty="0"/>
              <a:t>We find that consistency regularisation between modalities is a viable way to include unlabelled data during training</a:t>
            </a:r>
          </a:p>
          <a:p>
            <a:pPr marL="628650" lvl="1" indent="-171450">
              <a:buFontTx/>
              <a:buChar char="-"/>
            </a:pPr>
            <a:r>
              <a:rPr lang="en-AU" dirty="0"/>
              <a:t>As a caveat here, this requires the modalities to correlated, which is to say that the scans need to be aligned so that we can reasonably expect the same segmentation to be produced by each of them individually</a:t>
            </a:r>
          </a:p>
          <a:p>
            <a:pPr marL="171450" lvl="0" indent="-171450">
              <a:buFontTx/>
              <a:buChar char="-"/>
            </a:pPr>
            <a:r>
              <a:rPr lang="en-AU" dirty="0"/>
              <a:t>We also find that applying the SSL method described here to datasets with as little as 20% of the data labelled can rival fully supervised learning with the entire dataset labelled</a:t>
            </a:r>
          </a:p>
          <a:p>
            <a:pPr marL="628650" lvl="1" indent="-171450">
              <a:buFontTx/>
              <a:buChar char="-"/>
            </a:pPr>
            <a:r>
              <a:rPr lang="en-AU" dirty="0"/>
              <a:t>Its important to note that the fully supervised model that we compared against here was very bare bones – there are many improvements that could be made to the model to improve its performance</a:t>
            </a:r>
          </a:p>
          <a:p>
            <a:pPr marL="628650" lvl="1" indent="-171450">
              <a:buFontTx/>
              <a:buChar char="-"/>
            </a:pPr>
            <a:r>
              <a:rPr lang="en-AU" dirty="0"/>
              <a:t>We would hope that these improvements can be applied to both the SSL model and fully supervised model, and that the improvement described here remains after making these modifications – this is further work</a:t>
            </a:r>
          </a:p>
          <a:p>
            <a:pPr marL="171450" lvl="0" indent="-171450">
              <a:buFontTx/>
              <a:buChar char="-"/>
            </a:pPr>
            <a:r>
              <a:rPr lang="en-AU" dirty="0"/>
              <a:t>We also made many simplifications to the task for the sake of providing a proof of concept – further work should study the viability of applying this method to more complicated image segmentation tasks.</a:t>
            </a:r>
          </a:p>
          <a:p>
            <a:pPr marL="171450" lvl="0" indent="-171450">
              <a:buFontTx/>
              <a:buChar char="-"/>
            </a:pPr>
            <a:r>
              <a:rPr lang="en-AU" dirty="0"/>
              <a:t>Questions?</a:t>
            </a:r>
          </a:p>
        </p:txBody>
      </p:sp>
      <p:sp>
        <p:nvSpPr>
          <p:cNvPr id="4" name="Slide Number Placeholder 3"/>
          <p:cNvSpPr>
            <a:spLocks noGrp="1"/>
          </p:cNvSpPr>
          <p:nvPr>
            <p:ph type="sldNum" sz="quarter" idx="5"/>
          </p:nvPr>
        </p:nvSpPr>
        <p:spPr/>
        <p:txBody>
          <a:bodyPr/>
          <a:lstStyle/>
          <a:p>
            <a:fld id="{6E54BD99-4E43-104F-92A0-F8E3BC04E864}" type="slidenum">
              <a:rPr lang="en-AU" smtClean="0"/>
              <a:t>12</a:t>
            </a:fld>
            <a:endParaRPr lang="en-AU"/>
          </a:p>
        </p:txBody>
      </p:sp>
    </p:spTree>
    <p:extLst>
      <p:ext uri="{BB962C8B-B14F-4D97-AF65-F5344CB8AC3E}">
        <p14:creationId xmlns:p14="http://schemas.microsoft.com/office/powerpoint/2010/main" val="1808108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typical way of applying machine learning to image tasks is via convolutions</a:t>
            </a:r>
          </a:p>
          <a:p>
            <a:pPr marL="171450" indent="-171450">
              <a:buFontTx/>
              <a:buChar char="-"/>
            </a:pPr>
            <a:r>
              <a:rPr lang="en-AU" dirty="0"/>
              <a:t>We assume that the image exhibits local continuity in pixels</a:t>
            </a:r>
          </a:p>
          <a:p>
            <a:pPr marL="628650" lvl="1" indent="-171450">
              <a:buFontTx/>
              <a:buChar char="-"/>
            </a:pPr>
            <a:r>
              <a:rPr lang="en-AU" dirty="0"/>
              <a:t>You can’t just encode any problem as a random looking image and expect CNNs to work</a:t>
            </a:r>
          </a:p>
          <a:p>
            <a:pPr marL="171450" indent="-171450">
              <a:buFontTx/>
              <a:buChar char="-"/>
            </a:pPr>
            <a:r>
              <a:rPr lang="en-AU" dirty="0"/>
              <a:t>Convolutions are an operation between a kernel, which our machine learning model will learn, and an image</a:t>
            </a:r>
          </a:p>
          <a:p>
            <a:pPr marL="171450" indent="-171450">
              <a:buFontTx/>
              <a:buChar char="-"/>
            </a:pPr>
            <a:r>
              <a:rPr lang="en-AU" dirty="0"/>
              <a:t>These are applied to different parts of the image in the same way – assumes that the task is applied similarly across the image</a:t>
            </a:r>
          </a:p>
          <a:p>
            <a:pPr marL="171450" indent="-171450">
              <a:buFontTx/>
              <a:buChar char="-"/>
            </a:pPr>
            <a:r>
              <a:rPr lang="en-AU" dirty="0"/>
              <a:t>Uses much less weights than other methods – less worried about overfitting</a:t>
            </a:r>
          </a:p>
          <a:p>
            <a:pPr marL="171450" indent="-171450">
              <a:buFontTx/>
              <a:buChar char="-"/>
            </a:pPr>
            <a:endParaRPr lang="en-AU" dirty="0"/>
          </a:p>
          <a:p>
            <a:pPr marL="171450" lvl="0" indent="-171450">
              <a:buFontTx/>
              <a:buChar char="-"/>
            </a:pPr>
            <a:r>
              <a:rPr lang="en-AU" dirty="0"/>
              <a:t>CNNs use successive convolutions to extract the high-level features of an image</a:t>
            </a:r>
          </a:p>
          <a:p>
            <a:pPr marL="171450" lvl="0" indent="-171450">
              <a:buFontTx/>
              <a:buChar char="-"/>
            </a:pPr>
            <a:r>
              <a:rPr lang="en-AU" dirty="0"/>
              <a:t>Between successive convolutions, we reduce the dimension of the image (pooling layer)</a:t>
            </a:r>
          </a:p>
          <a:p>
            <a:pPr marL="628650" lvl="1" indent="-171450">
              <a:buFontTx/>
              <a:buChar char="-"/>
            </a:pPr>
            <a:r>
              <a:rPr lang="en-AU" dirty="0"/>
              <a:t>Later convolutions are acting on information from a larger window of the original image to obtain higher level features</a:t>
            </a:r>
          </a:p>
        </p:txBody>
      </p:sp>
      <p:sp>
        <p:nvSpPr>
          <p:cNvPr id="4" name="Slide Number Placeholder 3"/>
          <p:cNvSpPr>
            <a:spLocks noGrp="1"/>
          </p:cNvSpPr>
          <p:nvPr>
            <p:ph type="sldNum" sz="quarter" idx="5"/>
          </p:nvPr>
        </p:nvSpPr>
        <p:spPr/>
        <p:txBody>
          <a:bodyPr/>
          <a:lstStyle/>
          <a:p>
            <a:fld id="{6E54BD99-4E43-104F-92A0-F8E3BC04E864}" type="slidenum">
              <a:rPr lang="en-AU" smtClean="0"/>
              <a:t>13</a:t>
            </a:fld>
            <a:endParaRPr lang="en-AU"/>
          </a:p>
        </p:txBody>
      </p:sp>
    </p:spTree>
    <p:extLst>
      <p:ext uri="{BB962C8B-B14F-4D97-AF65-F5344CB8AC3E}">
        <p14:creationId xmlns:p14="http://schemas.microsoft.com/office/powerpoint/2010/main" val="3974225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To collect data, we first split the 369 volumes into 5 groups, and trained the model 5 times with </a:t>
            </a:r>
            <a:r>
              <a:rPr lang="en-AU" dirty="0" err="1"/>
              <a:t>eac</a:t>
            </a:r>
            <a:r>
              <a:rPr lang="en-AU" dirty="0"/>
              <a:t> of these groups designated the validation dataset exactly once</a:t>
            </a:r>
          </a:p>
          <a:p>
            <a:pPr marL="171450" indent="-171450">
              <a:buFontTx/>
              <a:buChar char="-"/>
            </a:pPr>
            <a:r>
              <a:rPr lang="en-AU" dirty="0"/>
              <a:t>Validation data is never used to train the model, so the model wont overfit to it and we can use it gauge performance during training via the Dice metric</a:t>
            </a:r>
          </a:p>
          <a:p>
            <a:pPr marL="171450" indent="-171450">
              <a:buFontTx/>
              <a:buChar char="-"/>
            </a:pPr>
            <a:r>
              <a:rPr lang="en-AU" dirty="0"/>
              <a:t>Training loop</a:t>
            </a:r>
          </a:p>
          <a:p>
            <a:pPr marL="171450" indent="-171450">
              <a:buFontTx/>
              <a:buChar char="-"/>
            </a:pPr>
            <a:r>
              <a:rPr lang="en-AU" dirty="0"/>
              <a:t>This whole process is done with and without SSL, and for varying numbers of labelled volumes</a:t>
            </a:r>
          </a:p>
          <a:p>
            <a:pPr marL="171450" indent="-171450">
              <a:buFontTx/>
              <a:buChar char="-"/>
            </a:pPr>
            <a:endParaRPr lang="en-AU" dirty="0"/>
          </a:p>
        </p:txBody>
      </p:sp>
      <p:sp>
        <p:nvSpPr>
          <p:cNvPr id="4" name="Slide Number Placeholder 3"/>
          <p:cNvSpPr>
            <a:spLocks noGrp="1"/>
          </p:cNvSpPr>
          <p:nvPr>
            <p:ph type="sldNum" sz="quarter" idx="5"/>
          </p:nvPr>
        </p:nvSpPr>
        <p:spPr/>
        <p:txBody>
          <a:bodyPr/>
          <a:lstStyle/>
          <a:p>
            <a:fld id="{6E54BD99-4E43-104F-92A0-F8E3BC04E864}" type="slidenum">
              <a:rPr lang="en-AU" smtClean="0"/>
              <a:t>14</a:t>
            </a:fld>
            <a:endParaRPr lang="en-AU"/>
          </a:p>
        </p:txBody>
      </p:sp>
    </p:spTree>
    <p:extLst>
      <p:ext uri="{BB962C8B-B14F-4D97-AF65-F5344CB8AC3E}">
        <p14:creationId xmlns:p14="http://schemas.microsoft.com/office/powerpoint/2010/main" val="1159398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B449D49-46D1-824E-BA0F-6D99DD3D87A5}" type="datetimeFigureOut">
              <a:rPr lang="en-US" smtClean="0"/>
              <a:t>10/22/25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FEAB7F48-577E-0B4F-A3C6-7C2F377FA79A}" type="slidenum">
              <a:rPr lang="en-US" smtClean="0"/>
              <a:t>‹#›</a:t>
            </a:fld>
            <a:endParaRPr lang="en-US"/>
          </a:p>
        </p:txBody>
      </p:sp>
    </p:spTree>
    <p:extLst>
      <p:ext uri="{BB962C8B-B14F-4D97-AF65-F5344CB8AC3E}">
        <p14:creationId xmlns:p14="http://schemas.microsoft.com/office/powerpoint/2010/main" val="140156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B449D49-46D1-824E-BA0F-6D99DD3D87A5}" type="datetimeFigureOut">
              <a:rPr lang="en-US" smtClean="0"/>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402529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7B449D49-46D1-824E-BA0F-6D99DD3D87A5}" type="datetimeFigureOut">
              <a:rPr lang="en-US" smtClean="0"/>
              <a:t>10/22/25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EAB7F48-577E-0B4F-A3C6-7C2F377FA79A}" type="slidenum">
              <a:rPr lang="en-US" smtClean="0"/>
              <a:t>‹#›</a:t>
            </a:fld>
            <a:endParaRPr lang="en-US"/>
          </a:p>
        </p:txBody>
      </p:sp>
    </p:spTree>
    <p:extLst>
      <p:ext uri="{BB962C8B-B14F-4D97-AF65-F5344CB8AC3E}">
        <p14:creationId xmlns:p14="http://schemas.microsoft.com/office/powerpoint/2010/main" val="93378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B449D49-46D1-824E-BA0F-6D99DD3D87A5}" type="datetimeFigureOut">
              <a:rPr lang="en-US" smtClean="0"/>
              <a:t>10/22/25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1635584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B449D49-46D1-824E-BA0F-6D99DD3D87A5}" type="datetimeFigureOut">
              <a:rPr lang="en-US" smtClean="0"/>
              <a:t>10/22/25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235982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B449D49-46D1-824E-BA0F-6D99DD3D87A5}" type="datetimeFigureOut">
              <a:rPr lang="en-US" smtClean="0"/>
              <a:t>10/22/25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2239073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449D49-46D1-824E-BA0F-6D99DD3D87A5}" type="datetimeFigureOut">
              <a:rPr lang="en-US" smtClean="0"/>
              <a:t>10/22/25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80141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B449D49-46D1-824E-BA0F-6D99DD3D87A5}" type="datetimeFigureOut">
              <a:rPr lang="en-US" smtClean="0"/>
              <a:t>10/22/25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EAB7F48-577E-0B4F-A3C6-7C2F377FA79A}" type="slidenum">
              <a:rPr lang="en-US" smtClean="0"/>
              <a:t>‹#›</a:t>
            </a:fld>
            <a:endParaRPr lang="en-US"/>
          </a:p>
        </p:txBody>
      </p:sp>
    </p:spTree>
    <p:extLst>
      <p:ext uri="{BB962C8B-B14F-4D97-AF65-F5344CB8AC3E}">
        <p14:creationId xmlns:p14="http://schemas.microsoft.com/office/powerpoint/2010/main" val="1544393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B449D49-46D1-824E-BA0F-6D99DD3D87A5}" type="datetimeFigureOut">
              <a:rPr lang="en-US" smtClean="0"/>
              <a:t>10/22/25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1879888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B449D49-46D1-824E-BA0F-6D99DD3D87A5}" type="datetimeFigureOut">
              <a:rPr lang="en-US" smtClean="0"/>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B7F48-577E-0B4F-A3C6-7C2F377FA79A}" type="slidenum">
              <a:rPr lang="en-US" smtClean="0"/>
              <a:t>‹#›</a:t>
            </a:fld>
            <a:endParaRPr lang="en-US"/>
          </a:p>
        </p:txBody>
      </p:sp>
    </p:spTree>
    <p:extLst>
      <p:ext uri="{BB962C8B-B14F-4D97-AF65-F5344CB8AC3E}">
        <p14:creationId xmlns:p14="http://schemas.microsoft.com/office/powerpoint/2010/main" val="50220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B449D49-46D1-824E-BA0F-6D99DD3D87A5}" type="datetimeFigureOut">
              <a:rPr lang="en-US" smtClean="0"/>
              <a:t>10/22/25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FEAB7F48-577E-0B4F-A3C6-7C2F377FA79A}" type="slidenum">
              <a:rPr lang="en-US" smtClean="0"/>
              <a:t>‹#›</a:t>
            </a:fld>
            <a:endParaRPr lang="en-US"/>
          </a:p>
        </p:txBody>
      </p:sp>
    </p:spTree>
    <p:extLst>
      <p:ext uri="{BB962C8B-B14F-4D97-AF65-F5344CB8AC3E}">
        <p14:creationId xmlns:p14="http://schemas.microsoft.com/office/powerpoint/2010/main" val="93764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B449D49-46D1-824E-BA0F-6D99DD3D87A5}" type="datetimeFigureOut">
              <a:rPr lang="en-US" smtClean="0"/>
              <a:t>10/22/25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FEAB7F48-577E-0B4F-A3C6-7C2F377FA79A}"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1560866920"/>
      </p:ext>
    </p:extLst>
  </p:cSld>
  <p:clrMap bg1="lt1" tx1="dk1" bg2="lt2" tx2="dk2" accent1="accent1" accent2="accent2" accent3="accent3" accent4="accent4" accent5="accent5" accent6="accent6" hlink="hlink" folHlink="folHlink"/>
  <p:sldLayoutIdLst>
    <p:sldLayoutId id="2147484348" r:id="rId1"/>
    <p:sldLayoutId id="2147484349" r:id="rId2"/>
    <p:sldLayoutId id="2147484350" r:id="rId3"/>
    <p:sldLayoutId id="2147484351" r:id="rId4"/>
    <p:sldLayoutId id="2147484352" r:id="rId5"/>
    <p:sldLayoutId id="2147484353" r:id="rId6"/>
    <p:sldLayoutId id="2147484354" r:id="rId7"/>
    <p:sldLayoutId id="2147484355" r:id="rId8"/>
    <p:sldLayoutId id="2147484356" r:id="rId9"/>
    <p:sldLayoutId id="2147484357" r:id="rId10"/>
    <p:sldLayoutId id="2147484358"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A0F039B-5DD9-421A-9389-1F31ABD9B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6134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BBFF3-6446-10E5-97FA-7787F5B56B9D}"/>
              </a:ext>
            </a:extLst>
          </p:cNvPr>
          <p:cNvSpPr>
            <a:spLocks noGrp="1"/>
          </p:cNvSpPr>
          <p:nvPr>
            <p:ph type="ctrTitle"/>
          </p:nvPr>
        </p:nvSpPr>
        <p:spPr>
          <a:xfrm>
            <a:off x="581191" y="723901"/>
            <a:ext cx="10993549" cy="1428750"/>
          </a:xfrm>
        </p:spPr>
        <p:txBody>
          <a:bodyPr>
            <a:normAutofit fontScale="90000"/>
          </a:bodyPr>
          <a:lstStyle/>
          <a:p>
            <a:r>
              <a:rPr lang="en-AU" noProof="0" dirty="0"/>
              <a:t>Cross-Modality Consistency Regularisation for</a:t>
            </a:r>
            <a:br>
              <a:rPr lang="en-AU" noProof="0" dirty="0"/>
            </a:br>
            <a:r>
              <a:rPr lang="en-AU" noProof="0" dirty="0"/>
              <a:t>Semi-Supervised Learning</a:t>
            </a:r>
          </a:p>
        </p:txBody>
      </p:sp>
      <p:sp>
        <p:nvSpPr>
          <p:cNvPr id="3" name="Subtitle 2">
            <a:extLst>
              <a:ext uri="{FF2B5EF4-FFF2-40B4-BE49-F238E27FC236}">
                <a16:creationId xmlns:a16="http://schemas.microsoft.com/office/drawing/2014/main" id="{6F6B072E-0E26-EC25-BDF5-9F0902ECB579}"/>
              </a:ext>
            </a:extLst>
          </p:cNvPr>
          <p:cNvSpPr>
            <a:spLocks noGrp="1"/>
          </p:cNvSpPr>
          <p:nvPr>
            <p:ph type="subTitle" idx="1"/>
          </p:nvPr>
        </p:nvSpPr>
        <p:spPr>
          <a:xfrm>
            <a:off x="581194" y="2172965"/>
            <a:ext cx="10993546" cy="525565"/>
          </a:xfrm>
        </p:spPr>
        <p:txBody>
          <a:bodyPr>
            <a:normAutofit/>
          </a:bodyPr>
          <a:lstStyle/>
          <a:p>
            <a:r>
              <a:rPr lang="en-US"/>
              <a:t>Jay Johnston</a:t>
            </a:r>
          </a:p>
        </p:txBody>
      </p:sp>
      <p:grpSp>
        <p:nvGrpSpPr>
          <p:cNvPr id="8" name="Group 7">
            <a:extLst>
              <a:ext uri="{FF2B5EF4-FFF2-40B4-BE49-F238E27FC236}">
                <a16:creationId xmlns:a16="http://schemas.microsoft.com/office/drawing/2014/main" id="{F5FC3198-2D16-F360-6A1D-10BBA16F2D89}"/>
              </a:ext>
            </a:extLst>
          </p:cNvPr>
          <p:cNvGrpSpPr/>
          <p:nvPr/>
        </p:nvGrpSpPr>
        <p:grpSpPr>
          <a:xfrm>
            <a:off x="476593" y="2718844"/>
            <a:ext cx="11238814" cy="1764744"/>
            <a:chOff x="635457" y="2216150"/>
            <a:chExt cx="11238814" cy="1764744"/>
          </a:xfrm>
        </p:grpSpPr>
        <p:pic>
          <p:nvPicPr>
            <p:cNvPr id="6" name="Picture 5" descr="A yellow object on a purple background&#10;&#10;AI-generated content may be incorrect.">
              <a:extLst>
                <a:ext uri="{FF2B5EF4-FFF2-40B4-BE49-F238E27FC236}">
                  <a16:creationId xmlns:a16="http://schemas.microsoft.com/office/drawing/2014/main" id="{5C9760F0-1D57-76E1-11B9-ECB2741E0E59}"/>
                </a:ext>
              </a:extLst>
            </p:cNvPr>
            <p:cNvPicPr>
              <a:picLocks noChangeAspect="1"/>
            </p:cNvPicPr>
            <p:nvPr/>
          </p:nvPicPr>
          <p:blipFill>
            <a:blip r:embed="rId3"/>
            <a:stretch>
              <a:fillRect/>
            </a:stretch>
          </p:blipFill>
          <p:spPr>
            <a:xfrm>
              <a:off x="6413728" y="2219870"/>
              <a:ext cx="5460543" cy="1761024"/>
            </a:xfrm>
            <a:prstGeom prst="rect">
              <a:avLst/>
            </a:prstGeom>
          </p:spPr>
        </p:pic>
        <p:pic>
          <p:nvPicPr>
            <p:cNvPr id="7" name="Picture 6">
              <a:extLst>
                <a:ext uri="{FF2B5EF4-FFF2-40B4-BE49-F238E27FC236}">
                  <a16:creationId xmlns:a16="http://schemas.microsoft.com/office/drawing/2014/main" id="{3A82485C-3DDB-6D8D-E652-3C53BA291650}"/>
                </a:ext>
              </a:extLst>
            </p:cNvPr>
            <p:cNvPicPr>
              <a:picLocks noChangeAspect="1"/>
            </p:cNvPicPr>
            <p:nvPr/>
          </p:nvPicPr>
          <p:blipFill>
            <a:blip r:embed="rId4"/>
            <a:stretch>
              <a:fillRect/>
            </a:stretch>
          </p:blipFill>
          <p:spPr>
            <a:xfrm>
              <a:off x="635457" y="2216150"/>
              <a:ext cx="5460543" cy="1764744"/>
            </a:xfrm>
            <a:prstGeom prst="rect">
              <a:avLst/>
            </a:prstGeom>
          </p:spPr>
        </p:pic>
      </p:grpSp>
      <p:grpSp>
        <p:nvGrpSpPr>
          <p:cNvPr id="13" name="Group 12">
            <a:extLst>
              <a:ext uri="{FF2B5EF4-FFF2-40B4-BE49-F238E27FC236}">
                <a16:creationId xmlns:a16="http://schemas.microsoft.com/office/drawing/2014/main" id="{3B12ECC7-41A9-313A-30AB-8C970F8BE4D5}"/>
              </a:ext>
            </a:extLst>
          </p:cNvPr>
          <p:cNvGrpSpPr/>
          <p:nvPr/>
        </p:nvGrpSpPr>
        <p:grpSpPr>
          <a:xfrm>
            <a:off x="476593" y="4766920"/>
            <a:ext cx="11238814" cy="1764744"/>
            <a:chOff x="476593" y="4191213"/>
            <a:chExt cx="11238814" cy="1764744"/>
          </a:xfrm>
        </p:grpSpPr>
        <p:pic>
          <p:nvPicPr>
            <p:cNvPr id="9" name="Picture 8">
              <a:extLst>
                <a:ext uri="{FF2B5EF4-FFF2-40B4-BE49-F238E27FC236}">
                  <a16:creationId xmlns:a16="http://schemas.microsoft.com/office/drawing/2014/main" id="{78F1410A-C4FE-D564-B022-70AF78D9E305}"/>
                </a:ext>
              </a:extLst>
            </p:cNvPr>
            <p:cNvPicPr>
              <a:picLocks noChangeAspect="1"/>
            </p:cNvPicPr>
            <p:nvPr/>
          </p:nvPicPr>
          <p:blipFill>
            <a:blip r:embed="rId5"/>
            <a:stretch>
              <a:fillRect/>
            </a:stretch>
          </p:blipFill>
          <p:spPr>
            <a:xfrm>
              <a:off x="476593" y="4191213"/>
              <a:ext cx="5460543" cy="1764744"/>
            </a:xfrm>
            <a:prstGeom prst="rect">
              <a:avLst/>
            </a:prstGeom>
          </p:spPr>
        </p:pic>
        <p:pic>
          <p:nvPicPr>
            <p:cNvPr id="11" name="Picture 10">
              <a:extLst>
                <a:ext uri="{FF2B5EF4-FFF2-40B4-BE49-F238E27FC236}">
                  <a16:creationId xmlns:a16="http://schemas.microsoft.com/office/drawing/2014/main" id="{363B992B-CCF2-2EEB-71EA-AB8433AAB05B}"/>
                </a:ext>
              </a:extLst>
            </p:cNvPr>
            <p:cNvPicPr>
              <a:picLocks noChangeAspect="1"/>
            </p:cNvPicPr>
            <p:nvPr/>
          </p:nvPicPr>
          <p:blipFill>
            <a:blip r:embed="rId6"/>
            <a:stretch>
              <a:fillRect/>
            </a:stretch>
          </p:blipFill>
          <p:spPr>
            <a:xfrm>
              <a:off x="6254864" y="4191215"/>
              <a:ext cx="5460543" cy="1764742"/>
            </a:xfrm>
            <a:prstGeom prst="rect">
              <a:avLst/>
            </a:prstGeom>
          </p:spPr>
        </p:pic>
      </p:grpSp>
    </p:spTree>
    <p:extLst>
      <p:ext uri="{BB962C8B-B14F-4D97-AF65-F5344CB8AC3E}">
        <p14:creationId xmlns:p14="http://schemas.microsoft.com/office/powerpoint/2010/main" val="222814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1019E-7900-B6A0-16C3-6B5650F7305D}"/>
              </a:ext>
            </a:extLst>
          </p:cNvPr>
          <p:cNvSpPr>
            <a:spLocks noGrp="1"/>
          </p:cNvSpPr>
          <p:nvPr>
            <p:ph type="title"/>
          </p:nvPr>
        </p:nvSpPr>
        <p:spPr>
          <a:xfrm>
            <a:off x="581192" y="702156"/>
            <a:ext cx="11029616" cy="1013800"/>
          </a:xfrm>
        </p:spPr>
        <p:txBody>
          <a:bodyPr>
            <a:normAutofit/>
          </a:bodyPr>
          <a:lstStyle/>
          <a:p>
            <a:r>
              <a:rPr lang="en-AU" dirty="0"/>
              <a:t>Problem: Image Segmentation</a:t>
            </a:r>
          </a:p>
        </p:txBody>
      </p:sp>
      <p:pic>
        <p:nvPicPr>
          <p:cNvPr id="5" name="Picture 4">
            <a:extLst>
              <a:ext uri="{FF2B5EF4-FFF2-40B4-BE49-F238E27FC236}">
                <a16:creationId xmlns:a16="http://schemas.microsoft.com/office/drawing/2014/main" id="{B7C75D52-2B23-621A-4933-6081CF2A404F}"/>
              </a:ext>
            </a:extLst>
          </p:cNvPr>
          <p:cNvPicPr>
            <a:picLocks noChangeAspect="1"/>
          </p:cNvPicPr>
          <p:nvPr/>
        </p:nvPicPr>
        <p:blipFill>
          <a:blip r:embed="rId3"/>
          <a:srcRect l="1" t="1910" r="39889" b="-1913"/>
          <a:stretch>
            <a:fillRect/>
          </a:stretch>
        </p:blipFill>
        <p:spPr>
          <a:xfrm>
            <a:off x="381743" y="4187827"/>
            <a:ext cx="4105592" cy="2202738"/>
          </a:xfrm>
          <a:prstGeom prst="rect">
            <a:avLst/>
          </a:prstGeom>
        </p:spPr>
      </p:pic>
      <p:pic>
        <p:nvPicPr>
          <p:cNvPr id="4" name="Picture 3">
            <a:extLst>
              <a:ext uri="{FF2B5EF4-FFF2-40B4-BE49-F238E27FC236}">
                <a16:creationId xmlns:a16="http://schemas.microsoft.com/office/drawing/2014/main" id="{A7A256B7-1C26-1CBC-EF09-6B08042A19CA}"/>
              </a:ext>
            </a:extLst>
          </p:cNvPr>
          <p:cNvPicPr>
            <a:picLocks noChangeAspect="1"/>
          </p:cNvPicPr>
          <p:nvPr/>
        </p:nvPicPr>
        <p:blipFill>
          <a:blip r:embed="rId4"/>
          <a:srcRect l="6581" t="50" r="39247" b="-53"/>
          <a:stretch>
            <a:fillRect/>
          </a:stretch>
        </p:blipFill>
        <p:spPr>
          <a:xfrm>
            <a:off x="449474" y="1968156"/>
            <a:ext cx="3699935" cy="2202738"/>
          </a:xfrm>
          <a:prstGeom prst="rect">
            <a:avLst/>
          </a:prstGeom>
        </p:spPr>
      </p:pic>
      <p:sp>
        <p:nvSpPr>
          <p:cNvPr id="53" name="Content Placeholder 2">
            <a:extLst>
              <a:ext uri="{FF2B5EF4-FFF2-40B4-BE49-F238E27FC236}">
                <a16:creationId xmlns:a16="http://schemas.microsoft.com/office/drawing/2014/main" id="{36691477-9DE4-249C-D36F-D710EE14BB4C}"/>
              </a:ext>
            </a:extLst>
          </p:cNvPr>
          <p:cNvSpPr>
            <a:spLocks noGrp="1"/>
          </p:cNvSpPr>
          <p:nvPr>
            <p:ph idx="1"/>
          </p:nvPr>
        </p:nvSpPr>
        <p:spPr>
          <a:xfrm>
            <a:off x="4852219" y="2180496"/>
            <a:ext cx="6764626" cy="3678303"/>
          </a:xfrm>
        </p:spPr>
        <p:txBody>
          <a:bodyPr>
            <a:normAutofit/>
          </a:bodyPr>
          <a:lstStyle/>
          <a:p>
            <a:r>
              <a:rPr lang="en-AU" sz="2800" dirty="0"/>
              <a:t>Image segmentation is difficult to program explicitly – often requires manual labour</a:t>
            </a:r>
          </a:p>
          <a:p>
            <a:r>
              <a:rPr lang="en-AU" sz="2800" dirty="0"/>
              <a:t>Important for medical imaging – segmenting tissue scans</a:t>
            </a:r>
          </a:p>
          <a:p>
            <a:r>
              <a:rPr lang="en-AU" sz="2800" dirty="0"/>
              <a:t>A perfect use-case for machine learning</a:t>
            </a:r>
          </a:p>
        </p:txBody>
      </p:sp>
    </p:spTree>
    <p:extLst>
      <p:ext uri="{BB962C8B-B14F-4D97-AF65-F5344CB8AC3E}">
        <p14:creationId xmlns:p14="http://schemas.microsoft.com/office/powerpoint/2010/main" val="2739605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AC31014-4CBB-4573-8331-DA5AA1C54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1"/>
            <a:ext cx="12191999"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138F098-F604-4F6E-8D08-C054A7CB8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38174"/>
            <a:ext cx="3705323" cy="57626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8" name="Rectangle 57">
            <a:extLst>
              <a:ext uri="{FF2B5EF4-FFF2-40B4-BE49-F238E27FC236}">
                <a16:creationId xmlns:a16="http://schemas.microsoft.com/office/drawing/2014/main" id="{1AB1370E-3AC5-4363-8EC7-0AFC3BA28D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9" name="Rectangle 58">
            <a:extLst>
              <a:ext uri="{FF2B5EF4-FFF2-40B4-BE49-F238E27FC236}">
                <a16:creationId xmlns:a16="http://schemas.microsoft.com/office/drawing/2014/main" id="{5C6A1457-E8E7-4236-9BC2-F6E0A1284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60" name="Rectangle 59">
            <a:extLst>
              <a:ext uri="{FF2B5EF4-FFF2-40B4-BE49-F238E27FC236}">
                <a16:creationId xmlns:a16="http://schemas.microsoft.com/office/drawing/2014/main" id="{36088D07-9368-4686-BA4F-99FAC1FE4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1" name="Rectangle 40">
            <a:extLst>
              <a:ext uri="{FF2B5EF4-FFF2-40B4-BE49-F238E27FC236}">
                <a16:creationId xmlns:a16="http://schemas.microsoft.com/office/drawing/2014/main" id="{2E45CCD1-4441-42A5-93F0-08D9FBCF9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1923" y="654222"/>
            <a:ext cx="3702878" cy="167278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1586110-C700-4254-95B3-B3F36FB95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239" y="654222"/>
            <a:ext cx="3702878" cy="167278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453E7E-DB4F-A110-0D1E-EB1998C49658}"/>
              </a:ext>
            </a:extLst>
          </p:cNvPr>
          <p:cNvSpPr>
            <a:spLocks noGrp="1"/>
          </p:cNvSpPr>
          <p:nvPr>
            <p:ph idx="1"/>
          </p:nvPr>
        </p:nvSpPr>
        <p:spPr>
          <a:xfrm>
            <a:off x="4604162" y="3429000"/>
            <a:ext cx="6864154" cy="2971799"/>
          </a:xfrm>
        </p:spPr>
        <p:txBody>
          <a:bodyPr>
            <a:normAutofit lnSpcReduction="10000"/>
          </a:bodyPr>
          <a:lstStyle/>
          <a:p>
            <a:r>
              <a:rPr lang="en-AU" sz="2200" dirty="0"/>
              <a:t>Brain Tumour Segmentation (</a:t>
            </a:r>
            <a:r>
              <a:rPr lang="en-AU" sz="2200" dirty="0" err="1"/>
              <a:t>BraTS</a:t>
            </a:r>
            <a:r>
              <a:rPr lang="en-AU" sz="2200" dirty="0"/>
              <a:t>) dataset – 369 MRI brain scans of patients with glioblastomas</a:t>
            </a:r>
          </a:p>
          <a:p>
            <a:r>
              <a:rPr lang="en-AU" sz="2200" dirty="0"/>
              <a:t>Segmented by specialists into multiple types of tumour tissue</a:t>
            </a:r>
          </a:p>
          <a:p>
            <a:r>
              <a:rPr lang="en-AU" sz="2200" dirty="0"/>
              <a:t>In this work we simplify the segmentation to a binary ‘tumour’ / ‘not tumour’ segmentation, and only use 3 of the 4 available modalities (displayed here as RGB channels)</a:t>
            </a:r>
          </a:p>
          <a:p>
            <a:endParaRPr lang="en-AU" sz="2200" dirty="0"/>
          </a:p>
        </p:txBody>
      </p:sp>
      <p:sp>
        <p:nvSpPr>
          <p:cNvPr id="11" name="Rectangle 10">
            <a:extLst>
              <a:ext uri="{FF2B5EF4-FFF2-40B4-BE49-F238E27FC236}">
                <a16:creationId xmlns:a16="http://schemas.microsoft.com/office/drawing/2014/main" id="{CC29F534-AA0C-E0F6-59BD-7E0BDB8985A9}"/>
              </a:ext>
            </a:extLst>
          </p:cNvPr>
          <p:cNvSpPr/>
          <p:nvPr/>
        </p:nvSpPr>
        <p:spPr>
          <a:xfrm>
            <a:off x="4147700" y="548640"/>
            <a:ext cx="7813242" cy="209048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grpSp>
        <p:nvGrpSpPr>
          <p:cNvPr id="10" name="Group 9">
            <a:extLst>
              <a:ext uri="{FF2B5EF4-FFF2-40B4-BE49-F238E27FC236}">
                <a16:creationId xmlns:a16="http://schemas.microsoft.com/office/drawing/2014/main" id="{A65C266D-EC72-4B3F-C01F-E1ABF913CDE1}"/>
              </a:ext>
            </a:extLst>
          </p:cNvPr>
          <p:cNvGrpSpPr/>
          <p:nvPr/>
        </p:nvGrpSpPr>
        <p:grpSpPr>
          <a:xfrm>
            <a:off x="4480542" y="640081"/>
            <a:ext cx="7026809" cy="2331689"/>
            <a:chOff x="4431745" y="685363"/>
            <a:chExt cx="7026809" cy="2331689"/>
          </a:xfrm>
        </p:grpSpPr>
        <p:grpSp>
          <p:nvGrpSpPr>
            <p:cNvPr id="4" name="Group 3">
              <a:extLst>
                <a:ext uri="{FF2B5EF4-FFF2-40B4-BE49-F238E27FC236}">
                  <a16:creationId xmlns:a16="http://schemas.microsoft.com/office/drawing/2014/main" id="{BC0F6EAF-6056-DA5E-3B9A-81E7C25051E6}"/>
                </a:ext>
              </a:extLst>
            </p:cNvPr>
            <p:cNvGrpSpPr/>
            <p:nvPr/>
          </p:nvGrpSpPr>
          <p:grpSpPr>
            <a:xfrm>
              <a:off x="4431745" y="1913686"/>
              <a:ext cx="7026809" cy="1103366"/>
              <a:chOff x="635457" y="2216150"/>
              <a:chExt cx="11238814" cy="1764744"/>
            </a:xfrm>
          </p:grpSpPr>
          <p:pic>
            <p:nvPicPr>
              <p:cNvPr id="5" name="Picture 4" descr="A yellow object on a purple background&#10;&#10;AI-generated content may be incorrect.">
                <a:extLst>
                  <a:ext uri="{FF2B5EF4-FFF2-40B4-BE49-F238E27FC236}">
                    <a16:creationId xmlns:a16="http://schemas.microsoft.com/office/drawing/2014/main" id="{D83E7953-C05B-BD7B-7C88-57E2E9BDB465}"/>
                  </a:ext>
                </a:extLst>
              </p:cNvPr>
              <p:cNvPicPr>
                <a:picLocks noChangeAspect="1"/>
              </p:cNvPicPr>
              <p:nvPr/>
            </p:nvPicPr>
            <p:blipFill>
              <a:blip r:embed="rId3"/>
              <a:stretch>
                <a:fillRect/>
              </a:stretch>
            </p:blipFill>
            <p:spPr>
              <a:xfrm>
                <a:off x="6413728" y="2219870"/>
                <a:ext cx="5460543" cy="1761024"/>
              </a:xfrm>
              <a:prstGeom prst="rect">
                <a:avLst/>
              </a:prstGeom>
            </p:spPr>
          </p:pic>
          <p:pic>
            <p:nvPicPr>
              <p:cNvPr id="6" name="Picture 5">
                <a:extLst>
                  <a:ext uri="{FF2B5EF4-FFF2-40B4-BE49-F238E27FC236}">
                    <a16:creationId xmlns:a16="http://schemas.microsoft.com/office/drawing/2014/main" id="{1CEF3CFD-E4A1-C1E4-9820-9DF1DFB694A0}"/>
                  </a:ext>
                </a:extLst>
              </p:cNvPr>
              <p:cNvPicPr>
                <a:picLocks noChangeAspect="1"/>
              </p:cNvPicPr>
              <p:nvPr/>
            </p:nvPicPr>
            <p:blipFill>
              <a:blip r:embed="rId4"/>
              <a:stretch>
                <a:fillRect/>
              </a:stretch>
            </p:blipFill>
            <p:spPr>
              <a:xfrm>
                <a:off x="635457" y="2216150"/>
                <a:ext cx="5460543" cy="1764744"/>
              </a:xfrm>
              <a:prstGeom prst="rect">
                <a:avLst/>
              </a:prstGeom>
            </p:spPr>
          </p:pic>
        </p:grpSp>
        <p:grpSp>
          <p:nvGrpSpPr>
            <p:cNvPr id="7" name="Group 6">
              <a:extLst>
                <a:ext uri="{FF2B5EF4-FFF2-40B4-BE49-F238E27FC236}">
                  <a16:creationId xmlns:a16="http://schemas.microsoft.com/office/drawing/2014/main" id="{6A0CEAF1-4C2C-54E0-AD01-3E3DC1220A97}"/>
                </a:ext>
              </a:extLst>
            </p:cNvPr>
            <p:cNvGrpSpPr/>
            <p:nvPr/>
          </p:nvGrpSpPr>
          <p:grpSpPr>
            <a:xfrm>
              <a:off x="4431745" y="685363"/>
              <a:ext cx="7026809" cy="1103365"/>
              <a:chOff x="476593" y="4191213"/>
              <a:chExt cx="11238814" cy="1764744"/>
            </a:xfrm>
          </p:grpSpPr>
          <p:pic>
            <p:nvPicPr>
              <p:cNvPr id="8" name="Picture 7" descr="A yellow and purple background&#10;&#10;AI-generated content may be incorrect.">
                <a:extLst>
                  <a:ext uri="{FF2B5EF4-FFF2-40B4-BE49-F238E27FC236}">
                    <a16:creationId xmlns:a16="http://schemas.microsoft.com/office/drawing/2014/main" id="{85CDC65E-5118-5C34-F07C-AC5EEF1AB79E}"/>
                  </a:ext>
                </a:extLst>
              </p:cNvPr>
              <p:cNvPicPr>
                <a:picLocks noChangeAspect="1"/>
              </p:cNvPicPr>
              <p:nvPr/>
            </p:nvPicPr>
            <p:blipFill>
              <a:blip r:embed="rId5"/>
              <a:stretch>
                <a:fillRect/>
              </a:stretch>
            </p:blipFill>
            <p:spPr>
              <a:xfrm>
                <a:off x="476593" y="4191213"/>
                <a:ext cx="5460543" cy="1764744"/>
              </a:xfrm>
              <a:prstGeom prst="rect">
                <a:avLst/>
              </a:prstGeom>
            </p:spPr>
          </p:pic>
          <p:pic>
            <p:nvPicPr>
              <p:cNvPr id="9" name="Picture 8" descr="A yellow and purple background&#10;&#10;AI-generated content may be incorrect.">
                <a:extLst>
                  <a:ext uri="{FF2B5EF4-FFF2-40B4-BE49-F238E27FC236}">
                    <a16:creationId xmlns:a16="http://schemas.microsoft.com/office/drawing/2014/main" id="{559EF2BB-5B69-FDB8-4726-4B476CC4587D}"/>
                  </a:ext>
                </a:extLst>
              </p:cNvPr>
              <p:cNvPicPr>
                <a:picLocks noChangeAspect="1"/>
              </p:cNvPicPr>
              <p:nvPr/>
            </p:nvPicPr>
            <p:blipFill>
              <a:blip r:embed="rId6"/>
              <a:stretch>
                <a:fillRect/>
              </a:stretch>
            </p:blipFill>
            <p:spPr>
              <a:xfrm>
                <a:off x="6254864" y="4191215"/>
                <a:ext cx="5460543" cy="1764742"/>
              </a:xfrm>
              <a:prstGeom prst="rect">
                <a:avLst/>
              </a:prstGeom>
            </p:spPr>
          </p:pic>
        </p:grpSp>
      </p:grpSp>
      <p:sp>
        <p:nvSpPr>
          <p:cNvPr id="2" name="Title 1">
            <a:extLst>
              <a:ext uri="{FF2B5EF4-FFF2-40B4-BE49-F238E27FC236}">
                <a16:creationId xmlns:a16="http://schemas.microsoft.com/office/drawing/2014/main" id="{0A380ADE-B8A2-E925-6484-19C69E6757A0}"/>
              </a:ext>
            </a:extLst>
          </p:cNvPr>
          <p:cNvSpPr>
            <a:spLocks noGrp="1"/>
          </p:cNvSpPr>
          <p:nvPr>
            <p:ph type="title"/>
          </p:nvPr>
        </p:nvSpPr>
        <p:spPr>
          <a:xfrm>
            <a:off x="803189" y="1209184"/>
            <a:ext cx="3089189" cy="4734416"/>
          </a:xfrm>
        </p:spPr>
        <p:txBody>
          <a:bodyPr anchor="ctr">
            <a:normAutofit/>
          </a:bodyPr>
          <a:lstStyle/>
          <a:p>
            <a:r>
              <a:rPr lang="en-AU" cap="none" dirty="0"/>
              <a:t>Our Focus – </a:t>
            </a:r>
            <a:r>
              <a:rPr lang="en-AU" dirty="0" err="1"/>
              <a:t>B</a:t>
            </a:r>
            <a:r>
              <a:rPr lang="en-AU" cap="none" dirty="0" err="1"/>
              <a:t>ra</a:t>
            </a:r>
            <a:r>
              <a:rPr lang="en-AU" dirty="0" err="1"/>
              <a:t>tS</a:t>
            </a:r>
            <a:r>
              <a:rPr lang="en-AU" dirty="0"/>
              <a:t> </a:t>
            </a:r>
            <a:r>
              <a:rPr lang="en-AU" cap="none" dirty="0"/>
              <a:t>Dataset</a:t>
            </a:r>
            <a:endParaRPr lang="en-AU" dirty="0"/>
          </a:p>
        </p:txBody>
      </p:sp>
    </p:spTree>
    <p:extLst>
      <p:ext uri="{BB962C8B-B14F-4D97-AF65-F5344CB8AC3E}">
        <p14:creationId xmlns:p14="http://schemas.microsoft.com/office/powerpoint/2010/main" val="169817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DC7D-2379-93B3-F5B2-D55A222AE89D}"/>
              </a:ext>
            </a:extLst>
          </p:cNvPr>
          <p:cNvSpPr>
            <a:spLocks noGrp="1"/>
          </p:cNvSpPr>
          <p:nvPr>
            <p:ph type="title"/>
          </p:nvPr>
        </p:nvSpPr>
        <p:spPr>
          <a:xfrm>
            <a:off x="581192" y="702156"/>
            <a:ext cx="11029616" cy="1013800"/>
          </a:xfrm>
        </p:spPr>
        <p:txBody>
          <a:bodyPr>
            <a:normAutofit/>
          </a:bodyPr>
          <a:lstStyle/>
          <a:p>
            <a:r>
              <a:rPr lang="en-AU" dirty="0"/>
              <a:t>Why Semi-Supervised Learning (SSL)?</a:t>
            </a:r>
          </a:p>
        </p:txBody>
      </p:sp>
      <p:sp>
        <p:nvSpPr>
          <p:cNvPr id="11" name="Rectangle 10">
            <a:extLst>
              <a:ext uri="{FF2B5EF4-FFF2-40B4-BE49-F238E27FC236}">
                <a16:creationId xmlns:a16="http://schemas.microsoft.com/office/drawing/2014/main" id="{E83CCD68-169B-401E-9352-6930D4A6E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F0DF9B2-1BDF-3FCD-6B2A-AF06A85588EF}"/>
              </a:ext>
            </a:extLst>
          </p:cNvPr>
          <p:cNvSpPr/>
          <p:nvPr/>
        </p:nvSpPr>
        <p:spPr>
          <a:xfrm>
            <a:off x="209311" y="1854200"/>
            <a:ext cx="4134089" cy="4648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pic>
        <p:nvPicPr>
          <p:cNvPr id="4" name="Picture 3">
            <a:extLst>
              <a:ext uri="{FF2B5EF4-FFF2-40B4-BE49-F238E27FC236}">
                <a16:creationId xmlns:a16="http://schemas.microsoft.com/office/drawing/2014/main" id="{FFDD6A72-7DE0-EC56-86C7-0E572C30C183}"/>
              </a:ext>
            </a:extLst>
          </p:cNvPr>
          <p:cNvPicPr>
            <a:picLocks noChangeAspect="1"/>
          </p:cNvPicPr>
          <p:nvPr/>
        </p:nvPicPr>
        <p:blipFill>
          <a:blip r:embed="rId3"/>
          <a:stretch>
            <a:fillRect/>
          </a:stretch>
        </p:blipFill>
        <p:spPr>
          <a:xfrm>
            <a:off x="-1" y="3004818"/>
            <a:ext cx="5102087" cy="2908188"/>
          </a:xfrm>
          <a:prstGeom prst="rect">
            <a:avLst/>
          </a:prstGeom>
        </p:spPr>
      </p:pic>
      <p:sp>
        <p:nvSpPr>
          <p:cNvPr id="3" name="Content Placeholder 2">
            <a:extLst>
              <a:ext uri="{FF2B5EF4-FFF2-40B4-BE49-F238E27FC236}">
                <a16:creationId xmlns:a16="http://schemas.microsoft.com/office/drawing/2014/main" id="{9664A41B-CE87-A7B3-6EB6-6F33ACC6CAB6}"/>
              </a:ext>
            </a:extLst>
          </p:cNvPr>
          <p:cNvSpPr>
            <a:spLocks noGrp="1"/>
          </p:cNvSpPr>
          <p:nvPr>
            <p:ph idx="1"/>
          </p:nvPr>
        </p:nvSpPr>
        <p:spPr>
          <a:xfrm>
            <a:off x="5340626" y="2180496"/>
            <a:ext cx="6270180" cy="4045683"/>
          </a:xfrm>
        </p:spPr>
        <p:txBody>
          <a:bodyPr>
            <a:normAutofit/>
          </a:bodyPr>
          <a:lstStyle/>
          <a:p>
            <a:pPr>
              <a:lnSpc>
                <a:spcPct val="90000"/>
              </a:lnSpc>
            </a:pPr>
            <a:r>
              <a:rPr lang="en-AU" sz="2000" dirty="0"/>
              <a:t>Obtaining labelled datasets is difficult, especially in medical image segmentation</a:t>
            </a:r>
          </a:p>
          <a:p>
            <a:pPr>
              <a:lnSpc>
                <a:spcPct val="90000"/>
              </a:lnSpc>
            </a:pPr>
            <a:r>
              <a:rPr lang="en-AU" sz="2000" b="1" dirty="0"/>
              <a:t>Goal</a:t>
            </a:r>
            <a:r>
              <a:rPr lang="en-AU" sz="2000" dirty="0"/>
              <a:t> </a:t>
            </a:r>
            <a:r>
              <a:rPr lang="en-AU" sz="2000" b="1" dirty="0"/>
              <a:t>– </a:t>
            </a:r>
            <a:r>
              <a:rPr lang="en-AU" sz="2000" dirty="0"/>
              <a:t>Train a machine learning model on both labelled and unlabelled data</a:t>
            </a:r>
          </a:p>
          <a:p>
            <a:pPr>
              <a:lnSpc>
                <a:spcPct val="90000"/>
              </a:lnSpc>
            </a:pPr>
            <a:r>
              <a:rPr lang="en-AU" sz="2000" dirty="0"/>
              <a:t>Common methods are:</a:t>
            </a:r>
          </a:p>
          <a:p>
            <a:pPr lvl="1">
              <a:lnSpc>
                <a:spcPct val="90000"/>
              </a:lnSpc>
            </a:pPr>
            <a:r>
              <a:rPr lang="en-AU" sz="1800" dirty="0"/>
              <a:t>Pseudo-labelling – use the model to create labels on unlabelled data when the model is confident</a:t>
            </a:r>
          </a:p>
          <a:p>
            <a:pPr lvl="1">
              <a:lnSpc>
                <a:spcPct val="90000"/>
              </a:lnSpc>
            </a:pPr>
            <a:r>
              <a:rPr lang="en-AU" sz="1800" b="1" cap="small" dirty="0"/>
              <a:t>Consistency regularisation </a:t>
            </a:r>
            <a:r>
              <a:rPr lang="en-AU" sz="1800" dirty="0"/>
              <a:t>– encourage the model to give the same output under augmentations to the unlabelled input image</a:t>
            </a:r>
          </a:p>
        </p:txBody>
      </p:sp>
      <p:sp>
        <p:nvSpPr>
          <p:cNvPr id="10" name="TextBox 9">
            <a:extLst>
              <a:ext uri="{FF2B5EF4-FFF2-40B4-BE49-F238E27FC236}">
                <a16:creationId xmlns:a16="http://schemas.microsoft.com/office/drawing/2014/main" id="{87753310-2DCE-9C88-A24E-A1A358DFCE75}"/>
              </a:ext>
            </a:extLst>
          </p:cNvPr>
          <p:cNvSpPr txBox="1"/>
          <p:nvPr/>
        </p:nvSpPr>
        <p:spPr>
          <a:xfrm>
            <a:off x="604172" y="2358487"/>
            <a:ext cx="2745714" cy="646331"/>
          </a:xfrm>
          <a:prstGeom prst="rect">
            <a:avLst/>
          </a:prstGeom>
          <a:noFill/>
        </p:spPr>
        <p:txBody>
          <a:bodyPr wrap="square" rtlCol="0">
            <a:spAutoFit/>
          </a:bodyPr>
          <a:lstStyle/>
          <a:p>
            <a:pPr algn="ctr"/>
            <a:r>
              <a:rPr lang="en-AU" dirty="0"/>
              <a:t>Example of</a:t>
            </a:r>
          </a:p>
          <a:p>
            <a:pPr algn="ctr"/>
            <a:r>
              <a:rPr lang="en-AU" dirty="0"/>
              <a:t>Consistency Regularisation</a:t>
            </a:r>
          </a:p>
        </p:txBody>
      </p:sp>
    </p:spTree>
    <p:extLst>
      <p:ext uri="{BB962C8B-B14F-4D97-AF65-F5344CB8AC3E}">
        <p14:creationId xmlns:p14="http://schemas.microsoft.com/office/powerpoint/2010/main" val="143074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A499F183-99EE-4B1F-BA64-21A07922A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57" name="Rectangle 2056">
            <a:extLst>
              <a:ext uri="{FF2B5EF4-FFF2-40B4-BE49-F238E27FC236}">
                <a16:creationId xmlns:a16="http://schemas.microsoft.com/office/drawing/2014/main" id="{B783A767-5AFC-40D0-A72C-09036EA1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59" name="Rectangle 2058">
            <a:extLst>
              <a:ext uri="{FF2B5EF4-FFF2-40B4-BE49-F238E27FC236}">
                <a16:creationId xmlns:a16="http://schemas.microsoft.com/office/drawing/2014/main" id="{41262CAC-6BC8-43F9-9113-770A2772F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61" name="Rectangle 2060">
            <a:extLst>
              <a:ext uri="{FF2B5EF4-FFF2-40B4-BE49-F238E27FC236}">
                <a16:creationId xmlns:a16="http://schemas.microsoft.com/office/drawing/2014/main" id="{1AA2CCB6-DFD2-41CD-96FE-0140B7935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useBgFill="1">
        <p:nvSpPr>
          <p:cNvPr id="2063" name="Rectangle 2062">
            <a:extLst>
              <a:ext uri="{FF2B5EF4-FFF2-40B4-BE49-F238E27FC236}">
                <a16:creationId xmlns:a16="http://schemas.microsoft.com/office/drawing/2014/main" id="{6A225C9B-755F-4F91-9681-5E07AFAA7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diagram of a diagram&#10;&#10;AI-generated content may be incorrect.">
            <a:extLst>
              <a:ext uri="{FF2B5EF4-FFF2-40B4-BE49-F238E27FC236}">
                <a16:creationId xmlns:a16="http://schemas.microsoft.com/office/drawing/2014/main" id="{7EE98BF6-5722-07B8-4457-F6B47189F0C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31166" y="1408564"/>
            <a:ext cx="6518800" cy="4335002"/>
          </a:xfrm>
          <a:prstGeom prst="rect">
            <a:avLst/>
          </a:prstGeom>
          <a:noFill/>
          <a:extLst>
            <a:ext uri="{909E8E84-426E-40DD-AFC4-6F175D3DCCD1}">
              <a14:hiddenFill xmlns:a14="http://schemas.microsoft.com/office/drawing/2010/main">
                <a:solidFill>
                  <a:srgbClr val="FFFFFF"/>
                </a:solidFill>
              </a14:hiddenFill>
            </a:ext>
          </a:extLst>
        </p:spPr>
      </p:pic>
      <p:sp>
        <p:nvSpPr>
          <p:cNvPr id="2065" name="Rectangle 2064">
            <a:extLst>
              <a:ext uri="{FF2B5EF4-FFF2-40B4-BE49-F238E27FC236}">
                <a16:creationId xmlns:a16="http://schemas.microsoft.com/office/drawing/2014/main" id="{932CD2CD-6CF3-4EE9-A24A-A41D45DCF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A8084D07-A4CE-71B4-0551-97DBE4372B02}"/>
              </a:ext>
            </a:extLst>
          </p:cNvPr>
          <p:cNvSpPr>
            <a:spLocks noGrp="1"/>
          </p:cNvSpPr>
          <p:nvPr>
            <p:ph type="title"/>
          </p:nvPr>
        </p:nvSpPr>
        <p:spPr>
          <a:xfrm>
            <a:off x="8296275" y="1053793"/>
            <a:ext cx="3081576" cy="1798255"/>
          </a:xfrm>
        </p:spPr>
        <p:txBody>
          <a:bodyPr vert="horz" lIns="91440" tIns="45720" rIns="91440" bIns="45720" rtlCol="0" anchor="b">
            <a:normAutofit fontScale="90000"/>
          </a:bodyPr>
          <a:lstStyle/>
          <a:p>
            <a:r>
              <a:rPr lang="en-US" sz="3200" dirty="0">
                <a:solidFill>
                  <a:srgbClr val="FFFFFF"/>
                </a:solidFill>
              </a:rPr>
              <a:t>U-Net Architecture</a:t>
            </a:r>
            <a:br>
              <a:rPr lang="en-US" sz="3200" dirty="0">
                <a:solidFill>
                  <a:srgbClr val="FFFFFF"/>
                </a:solidFill>
              </a:rPr>
            </a:br>
            <a:r>
              <a:rPr lang="en-US" sz="3200" dirty="0">
                <a:solidFill>
                  <a:srgbClr val="FFFFFF"/>
                </a:solidFill>
              </a:rPr>
              <a:t>&amp; Pretrained networks</a:t>
            </a:r>
          </a:p>
        </p:txBody>
      </p:sp>
      <p:sp>
        <p:nvSpPr>
          <p:cNvPr id="8" name="TextBox 7">
            <a:extLst>
              <a:ext uri="{FF2B5EF4-FFF2-40B4-BE49-F238E27FC236}">
                <a16:creationId xmlns:a16="http://schemas.microsoft.com/office/drawing/2014/main" id="{5457B132-CB3A-DC7C-999C-73A731317B8D}"/>
              </a:ext>
            </a:extLst>
          </p:cNvPr>
          <p:cNvSpPr txBox="1"/>
          <p:nvPr/>
        </p:nvSpPr>
        <p:spPr>
          <a:xfrm>
            <a:off x="1464274" y="6316505"/>
            <a:ext cx="5318572" cy="307777"/>
          </a:xfrm>
          <a:prstGeom prst="rect">
            <a:avLst/>
          </a:prstGeom>
          <a:noFill/>
        </p:spPr>
        <p:txBody>
          <a:bodyPr wrap="none" rtlCol="0">
            <a:spAutoFit/>
          </a:bodyPr>
          <a:lstStyle/>
          <a:p>
            <a:r>
              <a:rPr lang="en-AU" sz="1400" dirty="0"/>
              <a:t>Image credit: Olaf </a:t>
            </a:r>
            <a:r>
              <a:rPr lang="en-AU" sz="1400" dirty="0" err="1"/>
              <a:t>Ronneberger</a:t>
            </a:r>
            <a:r>
              <a:rPr lang="en-AU" sz="1400" dirty="0"/>
              <a:t>, Philipp Fischer &amp; Thomas Brox. (2015)</a:t>
            </a:r>
          </a:p>
        </p:txBody>
      </p:sp>
      <p:sp>
        <p:nvSpPr>
          <p:cNvPr id="10" name="Frame 9">
            <a:extLst>
              <a:ext uri="{FF2B5EF4-FFF2-40B4-BE49-F238E27FC236}">
                <a16:creationId xmlns:a16="http://schemas.microsoft.com/office/drawing/2014/main" id="{6BD601E4-329C-9B1C-DAEC-EC2E5C504AD7}"/>
              </a:ext>
            </a:extLst>
          </p:cNvPr>
          <p:cNvSpPr/>
          <p:nvPr/>
        </p:nvSpPr>
        <p:spPr>
          <a:xfrm>
            <a:off x="814149" y="1193369"/>
            <a:ext cx="3820335" cy="5026456"/>
          </a:xfrm>
          <a:prstGeom prst="frame">
            <a:avLst>
              <a:gd name="adj1" fmla="val 1907"/>
            </a:avLst>
          </a:prstGeom>
          <a:pattFill prst="wdUpDiag">
            <a:fgClr>
              <a:schemeClr val="accent1"/>
            </a:fgClr>
            <a:bgClr>
              <a:srgbClr val="FFFFF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ysClr val="windowText" lastClr="000000"/>
              </a:solidFill>
            </a:endParaRPr>
          </a:p>
        </p:txBody>
      </p:sp>
      <p:sp>
        <p:nvSpPr>
          <p:cNvPr id="12" name="TextBox 11">
            <a:extLst>
              <a:ext uri="{FF2B5EF4-FFF2-40B4-BE49-F238E27FC236}">
                <a16:creationId xmlns:a16="http://schemas.microsoft.com/office/drawing/2014/main" id="{C2660A92-B9EF-6E32-8A49-5D49A128E875}"/>
              </a:ext>
            </a:extLst>
          </p:cNvPr>
          <p:cNvSpPr txBox="1"/>
          <p:nvPr/>
        </p:nvSpPr>
        <p:spPr>
          <a:xfrm>
            <a:off x="1746965" y="850512"/>
            <a:ext cx="1954702" cy="369332"/>
          </a:xfrm>
          <a:prstGeom prst="rect">
            <a:avLst/>
          </a:prstGeom>
          <a:noFill/>
        </p:spPr>
        <p:txBody>
          <a:bodyPr wrap="none" rtlCol="0">
            <a:spAutoFit/>
          </a:bodyPr>
          <a:lstStyle/>
          <a:p>
            <a:r>
              <a:rPr lang="en-AU" dirty="0">
                <a:ln w="0"/>
                <a:solidFill>
                  <a:schemeClr val="accent1"/>
                </a:solidFill>
                <a:effectLst>
                  <a:outerShdw blurRad="38100" dist="25400" dir="5400000" algn="ctr" rotWithShape="0">
                    <a:srgbClr val="6E747A">
                      <a:alpha val="43000"/>
                    </a:srgbClr>
                  </a:outerShdw>
                </a:effectLst>
              </a:rPr>
              <a:t>Pretrained Weights</a:t>
            </a:r>
          </a:p>
        </p:txBody>
      </p:sp>
      <p:sp>
        <p:nvSpPr>
          <p:cNvPr id="18" name="Content Placeholder 2">
            <a:extLst>
              <a:ext uri="{FF2B5EF4-FFF2-40B4-BE49-F238E27FC236}">
                <a16:creationId xmlns:a16="http://schemas.microsoft.com/office/drawing/2014/main" id="{C81C0D7B-97C4-BC01-385A-3ABEB0B99317}"/>
              </a:ext>
            </a:extLst>
          </p:cNvPr>
          <p:cNvSpPr>
            <a:spLocks noGrp="1"/>
          </p:cNvSpPr>
          <p:nvPr>
            <p:ph idx="1"/>
          </p:nvPr>
        </p:nvSpPr>
        <p:spPr>
          <a:xfrm>
            <a:off x="8188916" y="2852048"/>
            <a:ext cx="3409782" cy="3464457"/>
          </a:xfrm>
        </p:spPr>
        <p:txBody>
          <a:bodyPr>
            <a:normAutofit/>
          </a:bodyPr>
          <a:lstStyle/>
          <a:p>
            <a:r>
              <a:rPr lang="en-AU" sz="1600" dirty="0">
                <a:solidFill>
                  <a:schemeClr val="bg1"/>
                </a:solidFill>
              </a:rPr>
              <a:t>Very lightweight without greatly sacrificing performance</a:t>
            </a:r>
          </a:p>
          <a:p>
            <a:r>
              <a:rPr lang="en-AU" sz="1600" dirty="0">
                <a:solidFill>
                  <a:schemeClr val="bg1"/>
                </a:solidFill>
              </a:rPr>
              <a:t>Contracting path:</a:t>
            </a:r>
          </a:p>
          <a:p>
            <a:pPr lvl="1"/>
            <a:r>
              <a:rPr lang="en-AU" sz="1400" dirty="0">
                <a:solidFill>
                  <a:schemeClr val="bg1"/>
                </a:solidFill>
              </a:rPr>
              <a:t>Reduces dimensionality and extracts features</a:t>
            </a:r>
          </a:p>
          <a:p>
            <a:r>
              <a:rPr lang="en-AU" sz="1600" dirty="0">
                <a:solidFill>
                  <a:schemeClr val="bg1"/>
                </a:solidFill>
              </a:rPr>
              <a:t>Expanding path:</a:t>
            </a:r>
          </a:p>
          <a:p>
            <a:pPr lvl="1"/>
            <a:r>
              <a:rPr lang="en-AU" sz="1400" dirty="0">
                <a:solidFill>
                  <a:schemeClr val="bg1"/>
                </a:solidFill>
              </a:rPr>
              <a:t>Reintroduces fine details to produce a detailed segmentation</a:t>
            </a:r>
          </a:p>
          <a:p>
            <a:r>
              <a:rPr lang="en-AU" sz="1600" dirty="0">
                <a:solidFill>
                  <a:schemeClr val="bg1"/>
                </a:solidFill>
              </a:rPr>
              <a:t>This work uses pretrained weights in the contracting path from MobileNetV2</a:t>
            </a:r>
          </a:p>
        </p:txBody>
      </p:sp>
    </p:spTree>
    <p:extLst>
      <p:ext uri="{BB962C8B-B14F-4D97-AF65-F5344CB8AC3E}">
        <p14:creationId xmlns:p14="http://schemas.microsoft.com/office/powerpoint/2010/main" val="373953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numbers and symbols&#10;&#10;AI-generated content may be incorrect.">
            <a:extLst>
              <a:ext uri="{FF2B5EF4-FFF2-40B4-BE49-F238E27FC236}">
                <a16:creationId xmlns:a16="http://schemas.microsoft.com/office/drawing/2014/main" id="{5744839D-A096-AA0A-1E90-E0956042C90E}"/>
              </a:ext>
            </a:extLst>
          </p:cNvPr>
          <p:cNvPicPr>
            <a:picLocks noChangeAspect="1"/>
          </p:cNvPicPr>
          <p:nvPr/>
        </p:nvPicPr>
        <p:blipFill rotWithShape="1">
          <a:blip r:embed="rId3"/>
          <a:srcRect/>
          <a:stretch>
            <a:fillRect/>
          </a:stretch>
        </p:blipFill>
        <p:spPr>
          <a:xfrm>
            <a:off x="440343" y="4438721"/>
            <a:ext cx="4097432" cy="2366271"/>
          </a:xfrm>
          <a:prstGeom prst="rect">
            <a:avLst/>
          </a:prstGeom>
        </p:spPr>
      </p:pic>
      <p:sp>
        <p:nvSpPr>
          <p:cNvPr id="2" name="Title 1">
            <a:extLst>
              <a:ext uri="{FF2B5EF4-FFF2-40B4-BE49-F238E27FC236}">
                <a16:creationId xmlns:a16="http://schemas.microsoft.com/office/drawing/2014/main" id="{38A7276D-896E-97D7-E0A8-F1BA45E8D8A3}"/>
              </a:ext>
            </a:extLst>
          </p:cNvPr>
          <p:cNvSpPr>
            <a:spLocks noGrp="1"/>
          </p:cNvSpPr>
          <p:nvPr>
            <p:ph type="title"/>
          </p:nvPr>
        </p:nvSpPr>
        <p:spPr>
          <a:xfrm>
            <a:off x="581192" y="702156"/>
            <a:ext cx="11029616" cy="1013800"/>
          </a:xfrm>
        </p:spPr>
        <p:txBody>
          <a:bodyPr>
            <a:normAutofit/>
          </a:bodyPr>
          <a:lstStyle/>
          <a:p>
            <a:r>
              <a:rPr lang="en-AU" dirty="0"/>
              <a:t>Training U-Nets - Supervised Learning</a:t>
            </a:r>
          </a:p>
        </p:txBody>
      </p:sp>
      <p:pic>
        <p:nvPicPr>
          <p:cNvPr id="6" name="Picture 5" descr="A diagram of a brain&#10;&#10;AI-generated content may be incorrect.">
            <a:extLst>
              <a:ext uri="{FF2B5EF4-FFF2-40B4-BE49-F238E27FC236}">
                <a16:creationId xmlns:a16="http://schemas.microsoft.com/office/drawing/2014/main" id="{1F4EE778-AE01-B3BE-51DC-A34553A89DD4}"/>
              </a:ext>
            </a:extLst>
          </p:cNvPr>
          <p:cNvPicPr>
            <a:picLocks noChangeAspect="1"/>
          </p:cNvPicPr>
          <p:nvPr/>
        </p:nvPicPr>
        <p:blipFill rotWithShape="1">
          <a:blip r:embed="rId4"/>
          <a:srcRect/>
          <a:stretch>
            <a:fillRect/>
          </a:stretch>
        </p:blipFill>
        <p:spPr>
          <a:xfrm>
            <a:off x="440343" y="1846269"/>
            <a:ext cx="3700009" cy="2645460"/>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6A029F-F24D-D56B-0722-E0EC5C1D46BB}"/>
                  </a:ext>
                </a:extLst>
              </p:cNvPr>
              <p:cNvSpPr>
                <a:spLocks noGrp="1"/>
              </p:cNvSpPr>
              <p:nvPr>
                <p:ph idx="1"/>
              </p:nvPr>
            </p:nvSpPr>
            <p:spPr>
              <a:xfrm>
                <a:off x="4391770" y="2180496"/>
                <a:ext cx="7225075" cy="4366078"/>
              </a:xfrm>
            </p:spPr>
            <p:txBody>
              <a:bodyPr>
                <a:normAutofit/>
              </a:bodyPr>
              <a:lstStyle/>
              <a:p>
                <a:r>
                  <a:rPr lang="en-AU" sz="2000" b="1" dirty="0"/>
                  <a:t>Supervised loss</a:t>
                </a:r>
                <a:r>
                  <a:rPr lang="en-AU" sz="2000" b="0" dirty="0"/>
                  <a:t> – a measure of how ‘bad’ the model’s prediction is compared to a ‘correct’ solution (</a:t>
                </a:r>
                <a:r>
                  <a:rPr lang="en-AU" sz="2000" b="0" i="1" dirty="0"/>
                  <a:t>labelled training data</a:t>
                </a:r>
                <a:r>
                  <a:rPr lang="en-AU" sz="2000" b="0" dirty="0"/>
                  <a:t>)</a:t>
                </a:r>
              </a:p>
              <a:p>
                <a:r>
                  <a:rPr lang="en-AU" sz="2000" b="0" dirty="0" err="1"/>
                  <a:t>Softmax</a:t>
                </a:r>
                <a:r>
                  <a:rPr lang="en-AU" sz="2000" b="0" dirty="0"/>
                  <a:t> defined as </a:t>
                </a:r>
                <a14:m>
                  <m:oMath xmlns:m="http://schemas.openxmlformats.org/officeDocument/2006/math">
                    <m:sSub>
                      <m:sSubPr>
                        <m:ctrlPr>
                          <a:rPr lang="en-AU" sz="2000" b="0" i="1" smtClean="0">
                            <a:latin typeface="Cambria Math" panose="02040503050406030204" pitchFamily="18" charset="0"/>
                          </a:rPr>
                        </m:ctrlPr>
                      </m:sSubPr>
                      <m:e>
                        <m:d>
                          <m:dPr>
                            <m:begChr m:val="["/>
                            <m:endChr m:val="]"/>
                            <m:ctrlPr>
                              <a:rPr lang="en-AU" sz="2000" b="0" i="1" smtClean="0">
                                <a:latin typeface="Cambria Math" panose="02040503050406030204" pitchFamily="18" charset="0"/>
                              </a:rPr>
                            </m:ctrlPr>
                          </m:dPr>
                          <m:e>
                            <m:r>
                              <a:rPr lang="en-AU" sz="2000" b="0" i="1" smtClean="0">
                                <a:latin typeface="Cambria Math" panose="02040503050406030204" pitchFamily="18" charset="0"/>
                              </a:rPr>
                              <m:t>𝜎</m:t>
                            </m:r>
                            <m:r>
                              <a:rPr lang="en-AU" sz="2000" b="0" i="1" smtClean="0">
                                <a:latin typeface="Cambria Math" panose="02040503050406030204" pitchFamily="18" charset="0"/>
                              </a:rPr>
                              <m:t>(</m:t>
                            </m:r>
                            <m:r>
                              <a:rPr lang="en-AU" sz="2000" b="0" i="1" smtClean="0">
                                <a:latin typeface="Cambria Math" panose="02040503050406030204" pitchFamily="18" charset="0"/>
                              </a:rPr>
                              <m:t>𝑥</m:t>
                            </m:r>
                            <m:r>
                              <a:rPr lang="en-AU" sz="2000" b="0" i="1" smtClean="0">
                                <a:latin typeface="Cambria Math" panose="02040503050406030204" pitchFamily="18" charset="0"/>
                              </a:rPr>
                              <m:t>)</m:t>
                            </m:r>
                          </m:e>
                        </m:d>
                      </m:e>
                      <m:sub>
                        <m:r>
                          <a:rPr lang="en-AU" sz="2000" b="0" i="1" smtClean="0">
                            <a:latin typeface="Cambria Math" panose="02040503050406030204" pitchFamily="18" charset="0"/>
                          </a:rPr>
                          <m:t>𝑖</m:t>
                        </m:r>
                      </m:sub>
                    </m:sSub>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𝑒</m:t>
                            </m:r>
                          </m:e>
                          <m:sup>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𝑥</m:t>
                                </m:r>
                              </m:e>
                              <m:sub>
                                <m:r>
                                  <a:rPr lang="en-AU" sz="2000" b="0" i="1" smtClean="0">
                                    <a:latin typeface="Cambria Math" panose="02040503050406030204" pitchFamily="18" charset="0"/>
                                  </a:rPr>
                                  <m:t>𝑖</m:t>
                                </m:r>
                              </m:sub>
                            </m:sSub>
                          </m:sup>
                        </m:sSup>
                      </m:num>
                      <m:den>
                        <m:nary>
                          <m:naryPr>
                            <m:chr m:val="∑"/>
                            <m:supHide m:val="on"/>
                            <m:ctrlPr>
                              <a:rPr lang="en-AU" sz="2000" b="0" i="1" smtClean="0">
                                <a:latin typeface="Cambria Math" panose="02040503050406030204" pitchFamily="18" charset="0"/>
                              </a:rPr>
                            </m:ctrlPr>
                          </m:naryPr>
                          <m:sub>
                            <m:r>
                              <a:rPr lang="en-AU" sz="2000" b="0" i="1" smtClean="0">
                                <a:latin typeface="Cambria Math" panose="02040503050406030204" pitchFamily="18" charset="0"/>
                              </a:rPr>
                              <m:t>𝑗</m:t>
                            </m:r>
                          </m:sub>
                          <m:sup/>
                          <m:e>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𝑒</m:t>
                                </m:r>
                              </m:e>
                              <m:sup>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𝑥</m:t>
                                    </m:r>
                                  </m:e>
                                  <m:sub>
                                    <m:r>
                                      <a:rPr lang="en-AU" sz="2000" b="0" i="1" smtClean="0">
                                        <a:latin typeface="Cambria Math" panose="02040503050406030204" pitchFamily="18" charset="0"/>
                                      </a:rPr>
                                      <m:t>𝑗</m:t>
                                    </m:r>
                                  </m:sub>
                                </m:sSub>
                              </m:sup>
                            </m:sSup>
                          </m:e>
                        </m:nary>
                      </m:den>
                    </m:f>
                  </m:oMath>
                </a14:m>
                <a:r>
                  <a:rPr lang="en-AU" sz="2000" dirty="0"/>
                  <a:t> for model outputs </a:t>
                </a:r>
                <a14:m>
                  <m:oMath xmlns:m="http://schemas.openxmlformats.org/officeDocument/2006/math">
                    <m:r>
                      <a:rPr lang="en-AU" sz="2000" b="0" i="1" smtClean="0">
                        <a:latin typeface="Cambria Math" panose="02040503050406030204" pitchFamily="18" charset="0"/>
                      </a:rPr>
                      <m:t>𝑥</m:t>
                    </m:r>
                    <m:r>
                      <a:rPr lang="en-AU" sz="2000" b="0" i="0" smtClean="0">
                        <a:latin typeface="Cambria Math" panose="02040503050406030204" pitchFamily="18" charset="0"/>
                      </a:rPr>
                      <m:t>;</m:t>
                    </m:r>
                  </m:oMath>
                </a14:m>
                <a:r>
                  <a:rPr lang="en-AU" sz="2000" dirty="0"/>
                  <a:t> converts to a probability distribution</a:t>
                </a:r>
              </a:p>
              <a:p>
                <a:r>
                  <a:rPr lang="en-AU" sz="2000" b="1" dirty="0"/>
                  <a:t>Categorical Cross Entropy (CCE) loss</a:t>
                </a:r>
                <a:r>
                  <a:rPr lang="en-AU" sz="2000" dirty="0"/>
                  <a:t> is defined as </a:t>
                </a:r>
                <a14:m>
                  <m:oMath xmlns:m="http://schemas.openxmlformats.org/officeDocument/2006/math">
                    <m:r>
                      <a:rPr lang="en-AU" sz="2000" b="0" i="1" smtClean="0">
                        <a:latin typeface="Cambria Math" panose="02040503050406030204" pitchFamily="18" charset="0"/>
                      </a:rPr>
                      <m:t>𝐶𝐶𝐸</m:t>
                    </m:r>
                    <m:r>
                      <a:rPr lang="en-AU" sz="2000" b="0" i="1" smtClean="0">
                        <a:latin typeface="Cambria Math" panose="02040503050406030204" pitchFamily="18" charset="0"/>
                      </a:rPr>
                      <m:t>=−</m:t>
                    </m:r>
                    <m:nary>
                      <m:naryPr>
                        <m:chr m:val="∑"/>
                        <m:supHide m:val="on"/>
                        <m:ctrlPr>
                          <a:rPr lang="en-AU" sz="2000" b="0" i="1" smtClean="0">
                            <a:latin typeface="Cambria Math" panose="02040503050406030204" pitchFamily="18" charset="0"/>
                          </a:rPr>
                        </m:ctrlPr>
                      </m:naryPr>
                      <m:sub>
                        <m:r>
                          <a:rPr lang="en-AU" sz="2000" b="0" i="1" smtClean="0">
                            <a:latin typeface="Cambria Math" panose="02040503050406030204" pitchFamily="18" charset="0"/>
                          </a:rPr>
                          <m:t>𝑖</m:t>
                        </m:r>
                      </m:sub>
                      <m:sup/>
                      <m:e>
                        <m:sSub>
                          <m:sSubPr>
                            <m:ctrlPr>
                              <a:rPr lang="en-AU" sz="2000" i="1">
                                <a:latin typeface="Cambria Math" panose="02040503050406030204" pitchFamily="18" charset="0"/>
                              </a:rPr>
                            </m:ctrlPr>
                          </m:sSubPr>
                          <m:e>
                            <m:r>
                              <a:rPr lang="en-AU" sz="2000" i="1">
                                <a:latin typeface="Cambria Math" panose="02040503050406030204" pitchFamily="18" charset="0"/>
                              </a:rPr>
                              <m:t>𝑦</m:t>
                            </m:r>
                          </m:e>
                          <m:sub>
                            <m:r>
                              <a:rPr lang="en-AU" sz="2000" i="1">
                                <a:latin typeface="Cambria Math" panose="02040503050406030204" pitchFamily="18" charset="0"/>
                              </a:rPr>
                              <m:t>𝑖</m:t>
                            </m:r>
                          </m:sub>
                        </m:sSub>
                        <m:func>
                          <m:funcPr>
                            <m:ctrlPr>
                              <a:rPr lang="en-AU" sz="2000" i="1">
                                <a:latin typeface="Cambria Math" panose="02040503050406030204" pitchFamily="18" charset="0"/>
                              </a:rPr>
                            </m:ctrlPr>
                          </m:funcPr>
                          <m:fName>
                            <m:r>
                              <m:rPr>
                                <m:sty m:val="p"/>
                              </m:rPr>
                              <a:rPr lang="en-AU" sz="2000">
                                <a:latin typeface="Cambria Math" panose="02040503050406030204" pitchFamily="18" charset="0"/>
                              </a:rPr>
                              <m:t>log</m:t>
                            </m:r>
                          </m:fName>
                          <m:e>
                            <m:sSub>
                              <m:sSubPr>
                                <m:ctrlPr>
                                  <a:rPr lang="en-AU" sz="2000" i="1" dirty="0">
                                    <a:latin typeface="Cambria Math" panose="02040503050406030204" pitchFamily="18" charset="0"/>
                                  </a:rPr>
                                </m:ctrlPr>
                              </m:sSubPr>
                              <m:e>
                                <m:acc>
                                  <m:accPr>
                                    <m:chr m:val="̂"/>
                                    <m:ctrlPr>
                                      <a:rPr lang="en-AU" sz="2000" i="1">
                                        <a:latin typeface="Cambria Math" panose="02040503050406030204" pitchFamily="18" charset="0"/>
                                      </a:rPr>
                                    </m:ctrlPr>
                                  </m:accPr>
                                  <m:e>
                                    <m:r>
                                      <a:rPr lang="en-AU" sz="2000" i="1">
                                        <a:latin typeface="Cambria Math" panose="02040503050406030204" pitchFamily="18" charset="0"/>
                                      </a:rPr>
                                      <m:t>𝑦</m:t>
                                    </m:r>
                                  </m:e>
                                </m:acc>
                              </m:e>
                              <m:sub>
                                <m:r>
                                  <a:rPr lang="en-AU" sz="2000" i="1" dirty="0">
                                    <a:latin typeface="Cambria Math" panose="02040503050406030204" pitchFamily="18" charset="0"/>
                                  </a:rPr>
                                  <m:t>𝑖</m:t>
                                </m:r>
                              </m:sub>
                            </m:sSub>
                          </m:e>
                        </m:func>
                      </m:e>
                    </m:nary>
                  </m:oMath>
                </a14:m>
                <a:r>
                  <a:rPr lang="en-AU" sz="2000" dirty="0"/>
                  <a:t> for ground truth </a:t>
                </a:r>
                <a14:m>
                  <m:oMath xmlns:m="http://schemas.openxmlformats.org/officeDocument/2006/math">
                    <m:r>
                      <a:rPr lang="en-AU" sz="2000" b="0" i="1" smtClean="0">
                        <a:latin typeface="Cambria Math" panose="02040503050406030204" pitchFamily="18" charset="0"/>
                      </a:rPr>
                      <m:t>𝑦</m:t>
                    </m:r>
                  </m:oMath>
                </a14:m>
                <a:r>
                  <a:rPr lang="en-AU" sz="2000" dirty="0"/>
                  <a:t> and prediction </a:t>
                </a:r>
                <a14:m>
                  <m:oMath xmlns:m="http://schemas.openxmlformats.org/officeDocument/2006/math">
                    <m:acc>
                      <m:accPr>
                        <m:chr m:val="̂"/>
                        <m:ctrlPr>
                          <a:rPr lang="en-AU" sz="2000" b="0" i="1" smtClean="0">
                            <a:latin typeface="Cambria Math" panose="02040503050406030204" pitchFamily="18" charset="0"/>
                          </a:rPr>
                        </m:ctrlPr>
                      </m:accPr>
                      <m:e>
                        <m:r>
                          <a:rPr lang="en-AU" sz="2000" b="0" i="1" smtClean="0">
                            <a:latin typeface="Cambria Math" panose="02040503050406030204" pitchFamily="18" charset="0"/>
                          </a:rPr>
                          <m:t>𝑦</m:t>
                        </m:r>
                      </m:e>
                    </m:acc>
                  </m:oMath>
                </a14:m>
                <a:endParaRPr lang="en-AU" sz="2000" dirty="0"/>
              </a:p>
              <a:p>
                <a:pPr lvl="1"/>
                <a:r>
                  <a:rPr lang="en-AU" sz="1800" dirty="0"/>
                  <a:t>Rewards confidently correct answers</a:t>
                </a:r>
              </a:p>
              <a:p>
                <a:pPr lvl="1"/>
                <a:r>
                  <a:rPr lang="en-AU" sz="1800" dirty="0"/>
                  <a:t>Correct answers that are not confident are penalised</a:t>
                </a:r>
              </a:p>
            </p:txBody>
          </p:sp>
        </mc:Choice>
        <mc:Fallback>
          <p:sp>
            <p:nvSpPr>
              <p:cNvPr id="3" name="Content Placeholder 2">
                <a:extLst>
                  <a:ext uri="{FF2B5EF4-FFF2-40B4-BE49-F238E27FC236}">
                    <a16:creationId xmlns:a16="http://schemas.microsoft.com/office/drawing/2014/main" id="{6C6A029F-F24D-D56B-0722-E0EC5C1D46BB}"/>
                  </a:ext>
                </a:extLst>
              </p:cNvPr>
              <p:cNvSpPr>
                <a:spLocks noGrp="1" noRot="1" noChangeAspect="1" noMove="1" noResize="1" noEditPoints="1" noAdjustHandles="1" noChangeArrowheads="1" noChangeShapeType="1" noTextEdit="1"/>
              </p:cNvSpPr>
              <p:nvPr>
                <p:ph idx="1"/>
              </p:nvPr>
            </p:nvSpPr>
            <p:spPr>
              <a:xfrm>
                <a:off x="4391770" y="2180496"/>
                <a:ext cx="7225075" cy="4366078"/>
              </a:xfrm>
              <a:blipFill>
                <a:blip r:embed="rId5"/>
                <a:stretch>
                  <a:fillRect l="-351"/>
                </a:stretch>
              </a:blipFill>
            </p:spPr>
            <p:txBody>
              <a:bodyPr/>
              <a:lstStyle/>
              <a:p>
                <a:r>
                  <a:rPr lang="en-AU">
                    <a:noFill/>
                  </a:rPr>
                  <a:t> </a:t>
                </a:r>
              </a:p>
            </p:txBody>
          </p:sp>
        </mc:Fallback>
      </mc:AlternateContent>
    </p:spTree>
    <p:extLst>
      <p:ext uri="{BB962C8B-B14F-4D97-AF65-F5344CB8AC3E}">
        <p14:creationId xmlns:p14="http://schemas.microsoft.com/office/powerpoint/2010/main" val="2823977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6D5FC40-D592-4FE8-917E-2EC1A2A802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1"/>
            <a:ext cx="12191999"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F72663-8285-481E-98A7-83BD0379D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38174"/>
            <a:ext cx="3705323" cy="57626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24D3C146-585B-3E63-5D21-89F949A3F078}"/>
              </a:ext>
            </a:extLst>
          </p:cNvPr>
          <p:cNvSpPr>
            <a:spLocks noGrp="1"/>
          </p:cNvSpPr>
          <p:nvPr>
            <p:ph type="title"/>
          </p:nvPr>
        </p:nvSpPr>
        <p:spPr>
          <a:xfrm>
            <a:off x="803189" y="1209184"/>
            <a:ext cx="3089189" cy="4734416"/>
          </a:xfrm>
        </p:spPr>
        <p:txBody>
          <a:bodyPr anchor="ctr">
            <a:normAutofit/>
          </a:bodyPr>
          <a:lstStyle/>
          <a:p>
            <a:r>
              <a:rPr lang="en-AU" dirty="0"/>
              <a:t>Evaluating Segmentations:</a:t>
            </a:r>
            <a:br>
              <a:rPr lang="en-AU" dirty="0"/>
            </a:br>
            <a:r>
              <a:rPr lang="en-AU" dirty="0"/>
              <a:t>The Dice Metric &amp; Dice Loss</a:t>
            </a:r>
          </a:p>
        </p:txBody>
      </p:sp>
      <p:sp>
        <p:nvSpPr>
          <p:cNvPr id="24" name="Rectangle 23">
            <a:extLst>
              <a:ext uri="{FF2B5EF4-FFF2-40B4-BE49-F238E27FC236}">
                <a16:creationId xmlns:a16="http://schemas.microsoft.com/office/drawing/2014/main" id="{DE1533F3-5E5F-4DCE-95F6-B5EFA1990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6" name="Rectangle 25">
            <a:extLst>
              <a:ext uri="{FF2B5EF4-FFF2-40B4-BE49-F238E27FC236}">
                <a16:creationId xmlns:a16="http://schemas.microsoft.com/office/drawing/2014/main" id="{3A8A8D6E-50C0-4DF7-BEFE-3D3DFE05A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Rectangle 27">
            <a:extLst>
              <a:ext uri="{FF2B5EF4-FFF2-40B4-BE49-F238E27FC236}">
                <a16:creationId xmlns:a16="http://schemas.microsoft.com/office/drawing/2014/main" id="{2596E41C-01A5-448F-910C-A77F5CC9C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9">
            <a:extLst>
              <a:ext uri="{FF2B5EF4-FFF2-40B4-BE49-F238E27FC236}">
                <a16:creationId xmlns:a16="http://schemas.microsoft.com/office/drawing/2014/main" id="{97C7EEF0-28C8-4D59-9D84-7A3BE15732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1923" y="654222"/>
            <a:ext cx="3702878" cy="243784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DD1794E-2A2D-4F0C-9ACA-D26F788C7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239" y="654222"/>
            <a:ext cx="3702878" cy="243784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2E4BAC-D505-ECE0-6F1F-4CCF77810269}"/>
                  </a:ext>
                </a:extLst>
              </p:cNvPr>
              <p:cNvSpPr>
                <a:spLocks noGrp="1"/>
              </p:cNvSpPr>
              <p:nvPr>
                <p:ph idx="1"/>
              </p:nvPr>
            </p:nvSpPr>
            <p:spPr>
              <a:xfrm>
                <a:off x="4561870" y="3425295"/>
                <a:ext cx="6864154" cy="2800477"/>
              </a:xfrm>
            </p:spPr>
            <p:txBody>
              <a:bodyPr>
                <a:normAutofit/>
              </a:bodyPr>
              <a:lstStyle/>
              <a:p>
                <a:r>
                  <a:rPr lang="en-AU" dirty="0"/>
                  <a:t>An easy metric for the quality of a segmentation is </a:t>
                </a:r>
                <a:r>
                  <a:rPr lang="en-AU" b="1" dirty="0"/>
                  <a:t>accuracy</a:t>
                </a:r>
                <a:r>
                  <a:rPr lang="en-AU" dirty="0"/>
                  <a:t>; what proportion of the pixels are segmented correctly</a:t>
                </a:r>
              </a:p>
              <a:p>
                <a:pPr lvl="1"/>
                <a:r>
                  <a:rPr lang="en-AU" dirty="0"/>
                  <a:t>This means that small segmented regions don’t contribute significantly to our metric</a:t>
                </a:r>
              </a:p>
              <a:p>
                <a:r>
                  <a:rPr lang="en-AU" dirty="0"/>
                  <a:t>The </a:t>
                </a:r>
                <a:r>
                  <a:rPr lang="en-AU" b="1" dirty="0"/>
                  <a:t>Dice metric </a:t>
                </a:r>
                <a:r>
                  <a:rPr lang="en-AU" dirty="0"/>
                  <a:t>is a widely popular metric for image segmentation</a:t>
                </a:r>
              </a:p>
              <a:p>
                <a:pPr lvl="1"/>
                <a:r>
                  <a:rPr lang="en-AU" dirty="0"/>
                  <a:t>Small foreground regions now contribute highly to the metric</a:t>
                </a:r>
              </a:p>
              <a:p>
                <a:r>
                  <a:rPr lang="en-AU" dirty="0"/>
                  <a:t>The </a:t>
                </a:r>
                <a:r>
                  <a:rPr lang="en-AU" b="1" dirty="0"/>
                  <a:t>(Soft) Dice loss</a:t>
                </a:r>
                <a:r>
                  <a:rPr lang="en-AU" dirty="0"/>
                  <a:t> is a generalisation of this to work on probability distributions on classes, and is (roughly) </a:t>
                </a:r>
                <a14:m>
                  <m:oMath xmlns:m="http://schemas.openxmlformats.org/officeDocument/2006/math">
                    <m:r>
                      <a:rPr lang="en-AU" b="0" i="1" smtClean="0">
                        <a:latin typeface="Cambria Math" panose="02040503050406030204" pitchFamily="18" charset="0"/>
                      </a:rPr>
                      <m:t>1−</m:t>
                    </m:r>
                  </m:oMath>
                </a14:m>
                <a:r>
                  <a:rPr lang="en-AU" dirty="0"/>
                  <a:t> Dice score</a:t>
                </a:r>
              </a:p>
            </p:txBody>
          </p:sp>
        </mc:Choice>
        <mc:Fallback xmlns="">
          <p:sp>
            <p:nvSpPr>
              <p:cNvPr id="3" name="Content Placeholder 2">
                <a:extLst>
                  <a:ext uri="{FF2B5EF4-FFF2-40B4-BE49-F238E27FC236}">
                    <a16:creationId xmlns:a16="http://schemas.microsoft.com/office/drawing/2014/main" id="{1E2E4BAC-D505-ECE0-6F1F-4CCF77810269}"/>
                  </a:ext>
                </a:extLst>
              </p:cNvPr>
              <p:cNvSpPr>
                <a:spLocks noGrp="1" noRot="1" noChangeAspect="1" noMove="1" noResize="1" noEditPoints="1" noAdjustHandles="1" noChangeArrowheads="1" noChangeShapeType="1" noTextEdit="1"/>
              </p:cNvSpPr>
              <p:nvPr>
                <p:ph idx="1"/>
              </p:nvPr>
            </p:nvSpPr>
            <p:spPr>
              <a:xfrm>
                <a:off x="4561870" y="3425295"/>
                <a:ext cx="6864154" cy="2800477"/>
              </a:xfrm>
              <a:blipFill>
                <a:blip r:embed="rId4"/>
                <a:stretch>
                  <a:fillRect l="-370" r="-555" b="-1802"/>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2A92C5B9-EA00-16F8-E224-BC8B7A86FFAA}"/>
              </a:ext>
            </a:extLst>
          </p:cNvPr>
          <p:cNvPicPr>
            <a:picLocks noChangeAspect="1"/>
          </p:cNvPicPr>
          <p:nvPr/>
        </p:nvPicPr>
        <p:blipFill>
          <a:blip r:embed="rId5"/>
          <a:stretch>
            <a:fillRect/>
          </a:stretch>
        </p:blipFill>
        <p:spPr>
          <a:xfrm>
            <a:off x="8547100" y="715752"/>
            <a:ext cx="2736655" cy="2344948"/>
          </a:xfrm>
          <a:prstGeom prst="rect">
            <a:avLst/>
          </a:prstGeom>
        </p:spPr>
      </p:pic>
      <p:pic>
        <p:nvPicPr>
          <p:cNvPr id="4" name="Picture 3">
            <a:extLst>
              <a:ext uri="{FF2B5EF4-FFF2-40B4-BE49-F238E27FC236}">
                <a16:creationId xmlns:a16="http://schemas.microsoft.com/office/drawing/2014/main" id="{AFA6E72E-8E53-A364-BB82-310D9782029B}"/>
              </a:ext>
            </a:extLst>
          </p:cNvPr>
          <p:cNvPicPr>
            <a:picLocks noChangeAspect="1"/>
          </p:cNvPicPr>
          <p:nvPr/>
        </p:nvPicPr>
        <p:blipFill>
          <a:blip r:embed="rId6"/>
          <a:stretch>
            <a:fillRect/>
          </a:stretch>
        </p:blipFill>
        <p:spPr>
          <a:xfrm>
            <a:off x="4939710" y="793121"/>
            <a:ext cx="2307560" cy="2160045"/>
          </a:xfrm>
          <a:prstGeom prst="rect">
            <a:avLst/>
          </a:prstGeom>
        </p:spPr>
      </p:pic>
    </p:spTree>
    <p:extLst>
      <p:ext uri="{BB962C8B-B14F-4D97-AF65-F5344CB8AC3E}">
        <p14:creationId xmlns:p14="http://schemas.microsoft.com/office/powerpoint/2010/main" val="2811259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ADD25B-0A33-4EF2-90F4-431392693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DB6F31-1B9E-4237-84A3-0825BFDF4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BC80C559-2832-BFBC-D4B4-EE56B6848C86}"/>
              </a:ext>
            </a:extLst>
          </p:cNvPr>
          <p:cNvSpPr>
            <a:spLocks noGrp="1"/>
          </p:cNvSpPr>
          <p:nvPr>
            <p:ph type="title"/>
          </p:nvPr>
        </p:nvSpPr>
        <p:spPr>
          <a:xfrm>
            <a:off x="601255" y="702156"/>
            <a:ext cx="3409783" cy="1013800"/>
          </a:xfrm>
        </p:spPr>
        <p:txBody>
          <a:bodyPr>
            <a:normAutofit/>
          </a:bodyPr>
          <a:lstStyle/>
          <a:p>
            <a:pPr>
              <a:lnSpc>
                <a:spcPct val="90000"/>
              </a:lnSpc>
            </a:pPr>
            <a:r>
              <a:rPr lang="en-AU" sz="2200" dirty="0"/>
              <a:t>The Focus of this Work - Custom Consistency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7818EF-B6E8-B8C1-F561-D7A836AE0F0B}"/>
                  </a:ext>
                </a:extLst>
              </p:cNvPr>
              <p:cNvSpPr>
                <a:spLocks noGrp="1"/>
              </p:cNvSpPr>
              <p:nvPr>
                <p:ph idx="1"/>
              </p:nvPr>
            </p:nvSpPr>
            <p:spPr>
              <a:xfrm>
                <a:off x="601255" y="1715957"/>
                <a:ext cx="3409782" cy="4510222"/>
              </a:xfrm>
            </p:spPr>
            <p:txBody>
              <a:bodyPr>
                <a:normAutofit/>
              </a:bodyPr>
              <a:lstStyle/>
              <a:p>
                <a:r>
                  <a:rPr lang="en-AU" sz="1600" dirty="0">
                    <a:solidFill>
                      <a:schemeClr val="bg1"/>
                    </a:solidFill>
                  </a:rPr>
                  <a:t>(To our knowledge) a novel approach to consistency regularisation in multimodal data</a:t>
                </a:r>
              </a:p>
              <a:p>
                <a:r>
                  <a:rPr lang="en-AU" sz="1600" dirty="0">
                    <a:solidFill>
                      <a:schemeClr val="bg1"/>
                    </a:solidFill>
                  </a:rPr>
                  <a:t>Enforce consistency between model predictions when different modalities are zeroed out</a:t>
                </a:r>
              </a:p>
              <a:p>
                <a:r>
                  <a:rPr lang="en-AU" sz="1600" dirty="0">
                    <a:solidFill>
                      <a:schemeClr val="bg1"/>
                    </a:solidFill>
                  </a:rPr>
                  <a:t>Soft Dice Loss:</a:t>
                </a:r>
                <a:br>
                  <a:rPr lang="en-AU" sz="1600" dirty="0">
                    <a:solidFill>
                      <a:schemeClr val="bg1"/>
                    </a:solidFill>
                  </a:rPr>
                </a:br>
                <a14:m>
                  <m:oMath xmlns:m="http://schemas.openxmlformats.org/officeDocument/2006/math">
                    <m:r>
                      <a:rPr lang="en-AU" sz="1600" b="0" i="1" smtClean="0">
                        <a:solidFill>
                          <a:schemeClr val="bg1"/>
                        </a:solidFill>
                        <a:latin typeface="Cambria Math" panose="02040503050406030204" pitchFamily="18" charset="0"/>
                      </a:rPr>
                      <m:t>𝑆𝐷𝐿</m:t>
                    </m:r>
                    <m:r>
                      <a:rPr lang="en-AU" sz="1600" b="0" i="1" smtClean="0">
                        <a:solidFill>
                          <a:schemeClr val="bg1"/>
                        </a:solidFill>
                        <a:latin typeface="Cambria Math" panose="02040503050406030204" pitchFamily="18" charset="0"/>
                      </a:rPr>
                      <m:t>(</m:t>
                    </m:r>
                    <m:acc>
                      <m:accPr>
                        <m:chr m:val="̂"/>
                        <m:ctrlPr>
                          <a:rPr lang="en-AU" sz="1600" b="0" i="1" smtClean="0">
                            <a:solidFill>
                              <a:schemeClr val="bg1"/>
                            </a:solidFill>
                            <a:latin typeface="Cambria Math" panose="02040503050406030204" pitchFamily="18" charset="0"/>
                          </a:rPr>
                        </m:ctrlPr>
                      </m:accPr>
                      <m:e>
                        <m:r>
                          <a:rPr lang="en-AU" sz="1600" b="0" i="1" smtClean="0">
                            <a:solidFill>
                              <a:schemeClr val="bg1"/>
                            </a:solidFill>
                            <a:latin typeface="Cambria Math" panose="02040503050406030204" pitchFamily="18" charset="0"/>
                          </a:rPr>
                          <m:t>𝑝</m:t>
                        </m:r>
                      </m:e>
                    </m:acc>
                    <m:r>
                      <a:rPr lang="en-AU" sz="1600" b="0" i="1" smtClean="0">
                        <a:solidFill>
                          <a:schemeClr val="bg1"/>
                        </a:solidFill>
                        <a:latin typeface="Cambria Math" panose="02040503050406030204" pitchFamily="18" charset="0"/>
                      </a:rPr>
                      <m:t>,</m:t>
                    </m:r>
                    <m:r>
                      <a:rPr lang="en-AU" sz="1600" b="0" i="1" smtClean="0">
                        <a:solidFill>
                          <a:schemeClr val="bg1"/>
                        </a:solidFill>
                        <a:latin typeface="Cambria Math" panose="02040503050406030204" pitchFamily="18" charset="0"/>
                      </a:rPr>
                      <m:t>𝑝</m:t>
                    </m:r>
                    <m:r>
                      <a:rPr lang="en-AU" sz="1600" b="0" i="1" smtClean="0">
                        <a:solidFill>
                          <a:schemeClr val="bg1"/>
                        </a:solidFill>
                        <a:latin typeface="Cambria Math" panose="02040503050406030204" pitchFamily="18" charset="0"/>
                      </a:rPr>
                      <m:t>)=1−</m:t>
                    </m:r>
                    <m:f>
                      <m:fPr>
                        <m:ctrlPr>
                          <a:rPr lang="en-AU" sz="1600" b="0" i="1" smtClean="0">
                            <a:solidFill>
                              <a:schemeClr val="bg1"/>
                            </a:solidFill>
                            <a:latin typeface="Cambria Math" panose="02040503050406030204" pitchFamily="18" charset="0"/>
                          </a:rPr>
                        </m:ctrlPr>
                      </m:fPr>
                      <m:num>
                        <m:r>
                          <a:rPr lang="en-AU" sz="1600" b="0" i="1" smtClean="0">
                            <a:solidFill>
                              <a:schemeClr val="bg1"/>
                            </a:solidFill>
                            <a:latin typeface="Cambria Math" panose="02040503050406030204" pitchFamily="18" charset="0"/>
                          </a:rPr>
                          <m:t>2</m:t>
                        </m:r>
                        <m:nary>
                          <m:naryPr>
                            <m:chr m:val="∑"/>
                            <m:supHide m:val="on"/>
                            <m:ctrlPr>
                              <a:rPr lang="en-AU" sz="1600" b="0" i="1" smtClean="0">
                                <a:solidFill>
                                  <a:schemeClr val="bg1"/>
                                </a:solidFill>
                                <a:latin typeface="Cambria Math" panose="02040503050406030204" pitchFamily="18" charset="0"/>
                              </a:rPr>
                            </m:ctrlPr>
                          </m:naryPr>
                          <m:sub>
                            <m:r>
                              <a:rPr lang="en-AU" sz="1600" b="0" i="1" smtClean="0">
                                <a:solidFill>
                                  <a:schemeClr val="bg1"/>
                                </a:solidFill>
                                <a:latin typeface="Cambria Math" panose="02040503050406030204" pitchFamily="18" charset="0"/>
                              </a:rPr>
                              <m:t>𝑖</m:t>
                            </m:r>
                          </m:sub>
                          <m:sup/>
                          <m:e>
                            <m:sSub>
                              <m:sSubPr>
                                <m:ctrlPr>
                                  <a:rPr lang="en-AU" sz="1600" i="1">
                                    <a:solidFill>
                                      <a:schemeClr val="bg1"/>
                                    </a:solidFill>
                                    <a:latin typeface="Cambria Math" panose="02040503050406030204" pitchFamily="18" charset="0"/>
                                  </a:rPr>
                                </m:ctrlPr>
                              </m:sSubPr>
                              <m:e>
                                <m:r>
                                  <a:rPr lang="en-AU" sz="1600" i="1">
                                    <a:solidFill>
                                      <a:schemeClr val="bg1"/>
                                    </a:solidFill>
                                    <a:latin typeface="Cambria Math" panose="02040503050406030204" pitchFamily="18" charset="0"/>
                                  </a:rPr>
                                  <m:t>𝑝</m:t>
                                </m:r>
                              </m:e>
                              <m:sub>
                                <m:r>
                                  <a:rPr lang="en-AU" sz="1600" i="1">
                                    <a:solidFill>
                                      <a:schemeClr val="bg1"/>
                                    </a:solidFill>
                                    <a:latin typeface="Cambria Math" panose="02040503050406030204" pitchFamily="18" charset="0"/>
                                  </a:rPr>
                                  <m:t>𝑖</m:t>
                                </m:r>
                              </m:sub>
                            </m:sSub>
                            <m:r>
                              <a:rPr lang="en-AU" sz="1600" i="1">
                                <a:solidFill>
                                  <a:schemeClr val="bg1"/>
                                </a:solidFill>
                                <a:latin typeface="Cambria Math" panose="02040503050406030204" pitchFamily="18" charset="0"/>
                              </a:rPr>
                              <m:t>⋅</m:t>
                            </m:r>
                            <m:sSub>
                              <m:sSubPr>
                                <m:ctrlPr>
                                  <a:rPr lang="en-AU" sz="1600" i="1">
                                    <a:solidFill>
                                      <a:schemeClr val="bg1"/>
                                    </a:solidFill>
                                    <a:latin typeface="Cambria Math" panose="02040503050406030204" pitchFamily="18" charset="0"/>
                                  </a:rPr>
                                </m:ctrlPr>
                              </m:sSubPr>
                              <m:e>
                                <m:acc>
                                  <m:accPr>
                                    <m:chr m:val="̂"/>
                                    <m:ctrlPr>
                                      <a:rPr lang="en-AU" sz="1600" i="1">
                                        <a:solidFill>
                                          <a:schemeClr val="bg1"/>
                                        </a:solidFill>
                                        <a:latin typeface="Cambria Math" panose="02040503050406030204" pitchFamily="18" charset="0"/>
                                      </a:rPr>
                                    </m:ctrlPr>
                                  </m:accPr>
                                  <m:e>
                                    <m:r>
                                      <a:rPr lang="en-AU" sz="1600" i="1">
                                        <a:solidFill>
                                          <a:schemeClr val="bg1"/>
                                        </a:solidFill>
                                        <a:latin typeface="Cambria Math" panose="02040503050406030204" pitchFamily="18" charset="0"/>
                                      </a:rPr>
                                      <m:t>𝑝</m:t>
                                    </m:r>
                                  </m:e>
                                </m:acc>
                              </m:e>
                              <m:sub>
                                <m:r>
                                  <a:rPr lang="en-AU" sz="1600" i="1">
                                    <a:solidFill>
                                      <a:schemeClr val="bg1"/>
                                    </a:solidFill>
                                    <a:latin typeface="Cambria Math" panose="02040503050406030204" pitchFamily="18" charset="0"/>
                                  </a:rPr>
                                  <m:t>𝑖</m:t>
                                </m:r>
                              </m:sub>
                            </m:sSub>
                          </m:e>
                        </m:nary>
                      </m:num>
                      <m:den>
                        <m:nary>
                          <m:naryPr>
                            <m:chr m:val="∑"/>
                            <m:supHide m:val="on"/>
                            <m:ctrlPr>
                              <a:rPr lang="en-AU" sz="1600" b="0" i="1" smtClean="0">
                                <a:solidFill>
                                  <a:schemeClr val="bg1"/>
                                </a:solidFill>
                                <a:latin typeface="Cambria Math" panose="02040503050406030204" pitchFamily="18" charset="0"/>
                              </a:rPr>
                            </m:ctrlPr>
                          </m:naryPr>
                          <m:sub>
                            <m:r>
                              <a:rPr lang="en-AU" sz="1600" b="0" i="1" smtClean="0">
                                <a:solidFill>
                                  <a:schemeClr val="bg1"/>
                                </a:solidFill>
                                <a:latin typeface="Cambria Math" panose="02040503050406030204" pitchFamily="18" charset="0"/>
                              </a:rPr>
                              <m:t>𝑖</m:t>
                            </m:r>
                          </m:sub>
                          <m:sup/>
                          <m:e>
                            <m:sSub>
                              <m:sSubPr>
                                <m:ctrlPr>
                                  <a:rPr lang="en-AU" sz="1600" b="0" i="1" smtClean="0">
                                    <a:solidFill>
                                      <a:schemeClr val="bg1"/>
                                    </a:solidFill>
                                    <a:latin typeface="Cambria Math" panose="02040503050406030204" pitchFamily="18" charset="0"/>
                                  </a:rPr>
                                </m:ctrlPr>
                              </m:sSubPr>
                              <m:e>
                                <m:r>
                                  <a:rPr lang="en-AU" sz="1600" b="0" i="1" smtClean="0">
                                    <a:solidFill>
                                      <a:schemeClr val="bg1"/>
                                    </a:solidFill>
                                    <a:latin typeface="Cambria Math" panose="02040503050406030204" pitchFamily="18" charset="0"/>
                                  </a:rPr>
                                  <m:t>𝑝</m:t>
                                </m:r>
                              </m:e>
                              <m:sub>
                                <m:r>
                                  <a:rPr lang="en-AU" sz="1600" b="0" i="1" smtClean="0">
                                    <a:solidFill>
                                      <a:schemeClr val="bg1"/>
                                    </a:solidFill>
                                    <a:latin typeface="Cambria Math" panose="02040503050406030204" pitchFamily="18" charset="0"/>
                                  </a:rPr>
                                  <m:t>𝑖</m:t>
                                </m:r>
                              </m:sub>
                            </m:sSub>
                          </m:e>
                        </m:nary>
                        <m:r>
                          <a:rPr lang="en-AU" sz="1600" b="0" i="1" smtClean="0">
                            <a:solidFill>
                              <a:schemeClr val="bg1"/>
                            </a:solidFill>
                            <a:latin typeface="Cambria Math" panose="02040503050406030204" pitchFamily="18" charset="0"/>
                          </a:rPr>
                          <m:t>+</m:t>
                        </m:r>
                        <m:nary>
                          <m:naryPr>
                            <m:chr m:val="∑"/>
                            <m:supHide m:val="on"/>
                            <m:ctrlPr>
                              <a:rPr lang="en-AU" sz="1600" b="0" i="1" smtClean="0">
                                <a:solidFill>
                                  <a:schemeClr val="bg1"/>
                                </a:solidFill>
                                <a:latin typeface="Cambria Math" panose="02040503050406030204" pitchFamily="18" charset="0"/>
                              </a:rPr>
                            </m:ctrlPr>
                          </m:naryPr>
                          <m:sub>
                            <m:r>
                              <a:rPr lang="en-AU" sz="1600" b="0" i="1" smtClean="0">
                                <a:solidFill>
                                  <a:schemeClr val="bg1"/>
                                </a:solidFill>
                                <a:latin typeface="Cambria Math" panose="02040503050406030204" pitchFamily="18" charset="0"/>
                              </a:rPr>
                              <m:t>𝑖</m:t>
                            </m:r>
                          </m:sub>
                          <m:sup/>
                          <m:e>
                            <m:sSub>
                              <m:sSubPr>
                                <m:ctrlPr>
                                  <a:rPr lang="en-AU" sz="1600" b="0" i="1" dirty="0" smtClean="0">
                                    <a:solidFill>
                                      <a:schemeClr val="bg1"/>
                                    </a:solidFill>
                                    <a:latin typeface="Cambria Math" panose="02040503050406030204" pitchFamily="18" charset="0"/>
                                  </a:rPr>
                                </m:ctrlPr>
                              </m:sSubPr>
                              <m:e>
                                <m:acc>
                                  <m:accPr>
                                    <m:chr m:val="̂"/>
                                    <m:ctrlPr>
                                      <a:rPr lang="en-AU" sz="1600" b="0" i="1" smtClean="0">
                                        <a:solidFill>
                                          <a:schemeClr val="bg1"/>
                                        </a:solidFill>
                                        <a:latin typeface="Cambria Math" panose="02040503050406030204" pitchFamily="18" charset="0"/>
                                      </a:rPr>
                                    </m:ctrlPr>
                                  </m:accPr>
                                  <m:e>
                                    <m:r>
                                      <a:rPr lang="en-AU" sz="1600" b="0" i="1" smtClean="0">
                                        <a:solidFill>
                                          <a:schemeClr val="bg1"/>
                                        </a:solidFill>
                                        <a:latin typeface="Cambria Math" panose="02040503050406030204" pitchFamily="18" charset="0"/>
                                      </a:rPr>
                                      <m:t>𝑝</m:t>
                                    </m:r>
                                  </m:e>
                                </m:acc>
                              </m:e>
                              <m:sub>
                                <m:r>
                                  <a:rPr lang="en-AU" sz="1600" b="0" i="1" dirty="0" smtClean="0">
                                    <a:solidFill>
                                      <a:schemeClr val="bg1"/>
                                    </a:solidFill>
                                    <a:latin typeface="Cambria Math" panose="02040503050406030204" pitchFamily="18" charset="0"/>
                                  </a:rPr>
                                  <m:t>𝑖</m:t>
                                </m:r>
                              </m:sub>
                            </m:sSub>
                          </m:e>
                        </m:nary>
                      </m:den>
                    </m:f>
                    <m:r>
                      <a:rPr lang="en-AU" sz="1600" b="0" i="1" smtClean="0">
                        <a:solidFill>
                          <a:schemeClr val="bg1"/>
                        </a:solidFill>
                        <a:latin typeface="Cambria Math" panose="02040503050406030204" pitchFamily="18" charset="0"/>
                      </a:rPr>
                      <m:t>,</m:t>
                    </m:r>
                  </m:oMath>
                </a14:m>
                <a:br>
                  <a:rPr lang="en-AU" sz="1600" dirty="0">
                    <a:solidFill>
                      <a:schemeClr val="bg1"/>
                    </a:solidFill>
                  </a:rPr>
                </a:br>
                <a:r>
                  <a:rPr lang="en-AU" sz="1600" dirty="0">
                    <a:solidFill>
                      <a:schemeClr val="bg1"/>
                    </a:solidFill>
                  </a:rPr>
                  <a:t>where </a:t>
                </a:r>
                <a14:m>
                  <m:oMath xmlns:m="http://schemas.openxmlformats.org/officeDocument/2006/math">
                    <m:r>
                      <a:rPr lang="en-AU" sz="1600" b="0" i="1" smtClean="0">
                        <a:solidFill>
                          <a:schemeClr val="bg1"/>
                        </a:solidFill>
                        <a:latin typeface="Cambria Math" panose="02040503050406030204" pitchFamily="18" charset="0"/>
                      </a:rPr>
                      <m:t>𝑝</m:t>
                    </m:r>
                    <m:r>
                      <a:rPr lang="en-AU" sz="1600" b="0" i="1" smtClean="0">
                        <a:solidFill>
                          <a:schemeClr val="bg1"/>
                        </a:solidFill>
                        <a:latin typeface="Cambria Math" panose="02040503050406030204" pitchFamily="18" charset="0"/>
                      </a:rPr>
                      <m:t>,</m:t>
                    </m:r>
                    <m:acc>
                      <m:accPr>
                        <m:chr m:val="̂"/>
                        <m:ctrlPr>
                          <a:rPr lang="en-AU" sz="1600" b="0" i="1" smtClean="0">
                            <a:solidFill>
                              <a:schemeClr val="bg1"/>
                            </a:solidFill>
                            <a:latin typeface="Cambria Math" panose="02040503050406030204" pitchFamily="18" charset="0"/>
                          </a:rPr>
                        </m:ctrlPr>
                      </m:accPr>
                      <m:e>
                        <m:r>
                          <a:rPr lang="en-AU" sz="1600" b="0" i="1" smtClean="0">
                            <a:solidFill>
                              <a:schemeClr val="bg1"/>
                            </a:solidFill>
                            <a:latin typeface="Cambria Math" panose="02040503050406030204" pitchFamily="18" charset="0"/>
                          </a:rPr>
                          <m:t>𝑝</m:t>
                        </m:r>
                      </m:e>
                    </m:acc>
                  </m:oMath>
                </a14:m>
                <a:r>
                  <a:rPr lang="en-AU" sz="1600" dirty="0">
                    <a:solidFill>
                      <a:schemeClr val="bg1"/>
                    </a:solidFill>
                  </a:rPr>
                  <a:t> are </a:t>
                </a:r>
                <a:r>
                  <a:rPr lang="en-AU" sz="1600" dirty="0" err="1">
                    <a:solidFill>
                      <a:schemeClr val="bg1"/>
                    </a:solidFill>
                  </a:rPr>
                  <a:t>softmax</a:t>
                </a:r>
                <a:r>
                  <a:rPr lang="en-AU" sz="1600" dirty="0">
                    <a:solidFill>
                      <a:schemeClr val="bg1"/>
                    </a:solidFill>
                  </a:rPr>
                  <a:t> outputs.</a:t>
                </a:r>
              </a:p>
              <a:p>
                <a:r>
                  <a:rPr lang="en-AU" sz="1600" dirty="0">
                    <a:solidFill>
                      <a:schemeClr val="bg1"/>
                    </a:solidFill>
                  </a:rPr>
                  <a:t>Encourage the model to use information from all modalities</a:t>
                </a:r>
              </a:p>
              <a:p>
                <a:r>
                  <a:rPr lang="en-AU" sz="1600" dirty="0">
                    <a:solidFill>
                      <a:schemeClr val="bg1"/>
                    </a:solidFill>
                  </a:rPr>
                  <a:t>Requires a </a:t>
                </a:r>
                <a:r>
                  <a:rPr lang="en-AU" sz="1600" b="1" dirty="0">
                    <a:solidFill>
                      <a:schemeClr val="bg1"/>
                    </a:solidFill>
                  </a:rPr>
                  <a:t>weight schedule</a:t>
                </a:r>
                <a:br>
                  <a:rPr lang="en-AU" sz="1600" dirty="0">
                    <a:solidFill>
                      <a:schemeClr val="bg1"/>
                    </a:solidFill>
                  </a:rPr>
                </a:br>
                <a14:m>
                  <m:oMath xmlns:m="http://schemas.openxmlformats.org/officeDocument/2006/math">
                    <m:sSub>
                      <m:sSubPr>
                        <m:ctrlPr>
                          <a:rPr lang="en-AU" sz="1600" b="1" i="1" smtClean="0">
                            <a:solidFill>
                              <a:schemeClr val="bg1"/>
                            </a:solidFill>
                            <a:latin typeface="Cambria Math" panose="02040503050406030204" pitchFamily="18" charset="0"/>
                          </a:rPr>
                        </m:ctrlPr>
                      </m:sSubPr>
                      <m:e>
                        <m:r>
                          <a:rPr lang="en-AU" sz="1600" b="1" i="1" smtClean="0">
                            <a:solidFill>
                              <a:schemeClr val="bg1"/>
                            </a:solidFill>
                            <a:latin typeface="Cambria Math" panose="02040503050406030204" pitchFamily="18" charset="0"/>
                          </a:rPr>
                          <m:t>𝑳</m:t>
                        </m:r>
                      </m:e>
                      <m:sub>
                        <m:r>
                          <a:rPr lang="en-AU" sz="1600" b="1" i="1" smtClean="0">
                            <a:solidFill>
                              <a:schemeClr val="bg1"/>
                            </a:solidFill>
                            <a:latin typeface="Cambria Math" panose="02040503050406030204" pitchFamily="18" charset="0"/>
                          </a:rPr>
                          <m:t>𝒕𝒐𝒕𝒂𝒍</m:t>
                        </m:r>
                      </m:sub>
                    </m:sSub>
                    <m:r>
                      <a:rPr lang="en-AU" sz="1600" b="1" i="1" smtClean="0">
                        <a:solidFill>
                          <a:schemeClr val="bg1"/>
                        </a:solidFill>
                        <a:latin typeface="Cambria Math" panose="02040503050406030204" pitchFamily="18" charset="0"/>
                      </a:rPr>
                      <m:t>=</m:t>
                    </m:r>
                    <m:r>
                      <a:rPr lang="en-AU" sz="1600" b="1" i="1" smtClean="0">
                        <a:solidFill>
                          <a:schemeClr val="bg1"/>
                        </a:solidFill>
                        <a:latin typeface="Cambria Math" panose="02040503050406030204" pitchFamily="18" charset="0"/>
                      </a:rPr>
                      <m:t>𝑪𝑪𝑬</m:t>
                    </m:r>
                    <m:r>
                      <a:rPr lang="en-AU" sz="1600" b="1" i="1" smtClean="0">
                        <a:solidFill>
                          <a:schemeClr val="bg1"/>
                        </a:solidFill>
                        <a:latin typeface="Cambria Math" panose="02040503050406030204" pitchFamily="18" charset="0"/>
                      </a:rPr>
                      <m:t>+</m:t>
                    </m:r>
                    <m:r>
                      <a:rPr lang="en-AU" sz="1600" b="1" i="1" smtClean="0">
                        <a:solidFill>
                          <a:schemeClr val="bg1"/>
                        </a:solidFill>
                        <a:latin typeface="Cambria Math" panose="02040503050406030204" pitchFamily="18" charset="0"/>
                      </a:rPr>
                      <m:t>𝝀</m:t>
                    </m:r>
                    <m:sSub>
                      <m:sSubPr>
                        <m:ctrlPr>
                          <a:rPr lang="en-AU" sz="1600" b="1" i="1" smtClean="0">
                            <a:solidFill>
                              <a:schemeClr val="bg1"/>
                            </a:solidFill>
                            <a:latin typeface="Cambria Math" panose="02040503050406030204" pitchFamily="18" charset="0"/>
                          </a:rPr>
                        </m:ctrlPr>
                      </m:sSubPr>
                      <m:e>
                        <m:r>
                          <a:rPr lang="en-AU" sz="1600" b="1" i="1" smtClean="0">
                            <a:solidFill>
                              <a:schemeClr val="bg1"/>
                            </a:solidFill>
                            <a:latin typeface="Cambria Math" panose="02040503050406030204" pitchFamily="18" charset="0"/>
                          </a:rPr>
                          <m:t>𝑳</m:t>
                        </m:r>
                      </m:e>
                      <m:sub>
                        <m:r>
                          <a:rPr lang="en-AU" sz="1600" b="1" i="1" smtClean="0">
                            <a:solidFill>
                              <a:schemeClr val="bg1"/>
                            </a:solidFill>
                            <a:latin typeface="Cambria Math" panose="02040503050406030204" pitchFamily="18" charset="0"/>
                          </a:rPr>
                          <m:t>𝒄</m:t>
                        </m:r>
                      </m:sub>
                    </m:sSub>
                  </m:oMath>
                </a14:m>
                <a:endParaRPr lang="en-AU" sz="1600" b="1" dirty="0">
                  <a:solidFill>
                    <a:schemeClr val="bg1"/>
                  </a:solidFill>
                </a:endParaRPr>
              </a:p>
            </p:txBody>
          </p:sp>
        </mc:Choice>
        <mc:Fallback xmlns="">
          <p:sp>
            <p:nvSpPr>
              <p:cNvPr id="3" name="Content Placeholder 2">
                <a:extLst>
                  <a:ext uri="{FF2B5EF4-FFF2-40B4-BE49-F238E27FC236}">
                    <a16:creationId xmlns:a16="http://schemas.microsoft.com/office/drawing/2014/main" id="{977818EF-B6E8-B8C1-F561-D7A836AE0F0B}"/>
                  </a:ext>
                </a:extLst>
              </p:cNvPr>
              <p:cNvSpPr>
                <a:spLocks noGrp="1" noRot="1" noChangeAspect="1" noMove="1" noResize="1" noEditPoints="1" noAdjustHandles="1" noChangeArrowheads="1" noChangeShapeType="1" noTextEdit="1"/>
              </p:cNvSpPr>
              <p:nvPr>
                <p:ph idx="1"/>
              </p:nvPr>
            </p:nvSpPr>
            <p:spPr>
              <a:xfrm>
                <a:off x="601255" y="1715957"/>
                <a:ext cx="3409782" cy="4510222"/>
              </a:xfrm>
              <a:blipFill>
                <a:blip r:embed="rId3"/>
                <a:stretch>
                  <a:fillRect l="-372"/>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28406007-D29B-2C57-6601-822C27D3BF1D}"/>
              </a:ext>
            </a:extLst>
          </p:cNvPr>
          <p:cNvPicPr>
            <a:picLocks noChangeAspect="1"/>
          </p:cNvPicPr>
          <p:nvPr/>
        </p:nvPicPr>
        <p:blipFill>
          <a:blip r:embed="rId4"/>
          <a:stretch>
            <a:fillRect/>
          </a:stretch>
        </p:blipFill>
        <p:spPr>
          <a:xfrm>
            <a:off x="4151172" y="614405"/>
            <a:ext cx="8054080" cy="5699523"/>
          </a:xfrm>
          <a:prstGeom prst="rect">
            <a:avLst/>
          </a:prstGeom>
        </p:spPr>
      </p:pic>
    </p:spTree>
    <p:extLst>
      <p:ext uri="{BB962C8B-B14F-4D97-AF65-F5344CB8AC3E}">
        <p14:creationId xmlns:p14="http://schemas.microsoft.com/office/powerpoint/2010/main" val="3209926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162E326-66E5-48A2-9450-BAD2B0D63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1"/>
            <a:ext cx="12191999"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FB87D5-86FF-4792-8DCD-1A899BA8B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706B6139-C69A-BEFC-2BDC-CA1909BED2C5}"/>
              </a:ext>
            </a:extLst>
          </p:cNvPr>
          <p:cNvSpPr>
            <a:spLocks noGrp="1"/>
          </p:cNvSpPr>
          <p:nvPr>
            <p:ph type="title"/>
          </p:nvPr>
        </p:nvSpPr>
        <p:spPr>
          <a:xfrm>
            <a:off x="803189" y="1209184"/>
            <a:ext cx="3089189" cy="4734416"/>
          </a:xfrm>
        </p:spPr>
        <p:txBody>
          <a:bodyPr anchor="ctr">
            <a:normAutofit/>
          </a:bodyPr>
          <a:lstStyle/>
          <a:p>
            <a:r>
              <a:rPr lang="en-AU" dirty="0"/>
              <a:t>Comparing Supervised and Semi-Supervised Learning</a:t>
            </a:r>
          </a:p>
        </p:txBody>
      </p:sp>
      <p:sp>
        <p:nvSpPr>
          <p:cNvPr id="15" name="Rectangle 14">
            <a:extLst>
              <a:ext uri="{FF2B5EF4-FFF2-40B4-BE49-F238E27FC236}">
                <a16:creationId xmlns:a16="http://schemas.microsoft.com/office/drawing/2014/main" id="{B7EF797D-6563-4620-A9F1-ACD5F253A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16">
            <a:extLst>
              <a:ext uri="{FF2B5EF4-FFF2-40B4-BE49-F238E27FC236}">
                <a16:creationId xmlns:a16="http://schemas.microsoft.com/office/drawing/2014/main" id="{CE17597C-7677-43CD-83E0-1FE7F1C9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Rectangle 18">
            <a:extLst>
              <a:ext uri="{FF2B5EF4-FFF2-40B4-BE49-F238E27FC236}">
                <a16:creationId xmlns:a16="http://schemas.microsoft.com/office/drawing/2014/main" id="{4C32B5A5-A49D-4D46-82D2-3F091280F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 name="Content Placeholder 2">
            <a:extLst>
              <a:ext uri="{FF2B5EF4-FFF2-40B4-BE49-F238E27FC236}">
                <a16:creationId xmlns:a16="http://schemas.microsoft.com/office/drawing/2014/main" id="{5C2492E7-2442-AD52-3BA5-2EB268F70C34}"/>
              </a:ext>
            </a:extLst>
          </p:cNvPr>
          <p:cNvSpPr>
            <a:spLocks noGrp="1"/>
          </p:cNvSpPr>
          <p:nvPr>
            <p:ph idx="1"/>
          </p:nvPr>
        </p:nvSpPr>
        <p:spPr>
          <a:xfrm>
            <a:off x="4561870" y="723899"/>
            <a:ext cx="7183597" cy="3007595"/>
          </a:xfrm>
        </p:spPr>
        <p:txBody>
          <a:bodyPr>
            <a:normAutofit/>
          </a:bodyPr>
          <a:lstStyle/>
          <a:p>
            <a:r>
              <a:rPr lang="en-AU" sz="2400" dirty="0"/>
              <a:t>Trained the model with 1, 3, 7, 15, 30, 60, 150 and 300 labelled volumes, each multiple times, with and without SSL</a:t>
            </a:r>
          </a:p>
          <a:p>
            <a:r>
              <a:rPr lang="en-AU" sz="2400" dirty="0"/>
              <a:t>Use validation datasets – the model never uses data from these volumes to train</a:t>
            </a:r>
          </a:p>
        </p:txBody>
      </p:sp>
      <p:pic>
        <p:nvPicPr>
          <p:cNvPr id="6" name="Picture 5" descr="A blue rectangle with green and blue text&#10;&#10;AI-generated content may be incorrect.">
            <a:extLst>
              <a:ext uri="{FF2B5EF4-FFF2-40B4-BE49-F238E27FC236}">
                <a16:creationId xmlns:a16="http://schemas.microsoft.com/office/drawing/2014/main" id="{1201267A-4C1F-A371-833A-01784CEF0274}"/>
              </a:ext>
            </a:extLst>
          </p:cNvPr>
          <p:cNvPicPr>
            <a:picLocks noChangeAspect="1"/>
          </p:cNvPicPr>
          <p:nvPr/>
        </p:nvPicPr>
        <p:blipFill>
          <a:blip r:embed="rId3"/>
          <a:stretch>
            <a:fillRect/>
          </a:stretch>
        </p:blipFill>
        <p:spPr>
          <a:xfrm>
            <a:off x="5236248" y="3557232"/>
            <a:ext cx="5884258" cy="2662627"/>
          </a:xfrm>
          <a:prstGeom prst="rect">
            <a:avLst/>
          </a:prstGeom>
        </p:spPr>
      </p:pic>
    </p:spTree>
    <p:extLst>
      <p:ext uri="{BB962C8B-B14F-4D97-AF65-F5344CB8AC3E}">
        <p14:creationId xmlns:p14="http://schemas.microsoft.com/office/powerpoint/2010/main" val="347315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FAEE973-9BA8-47FC-978E-9052735A5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
            <a:ext cx="12188952" cy="68584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1ACEF87-056E-4E77-899B-9E9A04E9B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096000" cy="3474720"/>
          </a:xfrm>
          <a:prstGeom prst="rect">
            <a:avLst/>
          </a:prstGeom>
          <a:solidFill>
            <a:schemeClr val="accent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B3D685D8-7F81-FE7F-009C-475DA20230C5}"/>
              </a:ext>
            </a:extLst>
          </p:cNvPr>
          <p:cNvSpPr>
            <a:spLocks noGrp="1"/>
          </p:cNvSpPr>
          <p:nvPr>
            <p:ph type="title"/>
          </p:nvPr>
        </p:nvSpPr>
        <p:spPr>
          <a:xfrm>
            <a:off x="581193" y="3377480"/>
            <a:ext cx="5139775" cy="829048"/>
          </a:xfrm>
        </p:spPr>
        <p:txBody>
          <a:bodyPr anchor="ctr">
            <a:normAutofit/>
          </a:bodyPr>
          <a:lstStyle/>
          <a:p>
            <a:pPr>
              <a:lnSpc>
                <a:spcPct val="90000"/>
              </a:lnSpc>
            </a:pPr>
            <a:r>
              <a:rPr lang="en-AU" sz="2400" dirty="0">
                <a:solidFill>
                  <a:srgbClr val="FFFFFF"/>
                </a:solidFill>
              </a:rPr>
              <a:t>features seen During Training</a:t>
            </a:r>
          </a:p>
        </p:txBody>
      </p:sp>
      <p:pic>
        <p:nvPicPr>
          <p:cNvPr id="5" name="Content Placeholder 4" descr="A graph of a line graph&#10;&#10;AI-generated content may be incorrect.">
            <a:extLst>
              <a:ext uri="{FF2B5EF4-FFF2-40B4-BE49-F238E27FC236}">
                <a16:creationId xmlns:a16="http://schemas.microsoft.com/office/drawing/2014/main" id="{7E57763D-972D-CB93-BA7A-075C40B6B0C2}"/>
              </a:ext>
            </a:extLst>
          </p:cNvPr>
          <p:cNvPicPr>
            <a:picLocks noChangeAspect="1"/>
          </p:cNvPicPr>
          <p:nvPr/>
        </p:nvPicPr>
        <p:blipFill>
          <a:blip r:embed="rId3"/>
          <a:srcRect l="454" r="1357" b="-4"/>
          <a:stretch>
            <a:fillRect/>
          </a:stretch>
        </p:blipFill>
        <p:spPr>
          <a:xfrm>
            <a:off x="918043" y="80722"/>
            <a:ext cx="4209622" cy="3215576"/>
          </a:xfrm>
          <a:prstGeom prst="rect">
            <a:avLst/>
          </a:prstGeom>
        </p:spPr>
      </p:pic>
      <p:sp>
        <p:nvSpPr>
          <p:cNvPr id="11" name="Content Placeholder 10">
            <a:extLst>
              <a:ext uri="{FF2B5EF4-FFF2-40B4-BE49-F238E27FC236}">
                <a16:creationId xmlns:a16="http://schemas.microsoft.com/office/drawing/2014/main" id="{44B36542-953A-2D68-C09B-50347F2CE2DA}"/>
              </a:ext>
            </a:extLst>
          </p:cNvPr>
          <p:cNvSpPr>
            <a:spLocks noGrp="1"/>
          </p:cNvSpPr>
          <p:nvPr>
            <p:ph idx="1"/>
          </p:nvPr>
        </p:nvSpPr>
        <p:spPr>
          <a:xfrm>
            <a:off x="581193" y="4002824"/>
            <a:ext cx="5147354" cy="2706722"/>
          </a:xfrm>
        </p:spPr>
        <p:txBody>
          <a:bodyPr>
            <a:normAutofit fontScale="92500" lnSpcReduction="20000"/>
          </a:bodyPr>
          <a:lstStyle/>
          <a:p>
            <a:pPr>
              <a:lnSpc>
                <a:spcPct val="90000"/>
              </a:lnSpc>
            </a:pPr>
            <a:r>
              <a:rPr lang="en-US" sz="1500" dirty="0">
                <a:solidFill>
                  <a:srgbClr val="FFFFFF"/>
                </a:solidFill>
              </a:rPr>
              <a:t>In some cases, the model was run multiple times to collect more data – not done for all tests due to time limitations</a:t>
            </a:r>
          </a:p>
          <a:p>
            <a:pPr>
              <a:lnSpc>
                <a:spcPct val="90000"/>
              </a:lnSpc>
            </a:pPr>
            <a:r>
              <a:rPr lang="en-US" sz="1500" dirty="0">
                <a:solidFill>
                  <a:srgbClr val="FFFFFF"/>
                </a:solidFill>
              </a:rPr>
              <a:t>Overfitting visible as Dice score dropping in later epochs</a:t>
            </a:r>
          </a:p>
          <a:p>
            <a:pPr lvl="1">
              <a:lnSpc>
                <a:spcPct val="90000"/>
              </a:lnSpc>
            </a:pPr>
            <a:r>
              <a:rPr lang="en-US" sz="1500" dirty="0">
                <a:solidFill>
                  <a:srgbClr val="FFFFFF"/>
                </a:solidFill>
              </a:rPr>
              <a:t>Fully supervised model begins overfitting more quickly (except when labelled set is extremely small)</a:t>
            </a:r>
          </a:p>
          <a:p>
            <a:pPr>
              <a:lnSpc>
                <a:spcPct val="90000"/>
              </a:lnSpc>
            </a:pPr>
            <a:r>
              <a:rPr lang="en-US" sz="1500" dirty="0">
                <a:solidFill>
                  <a:srgbClr val="FFFFFF"/>
                </a:solidFill>
              </a:rPr>
              <a:t>Dice score initially drops rapidly</a:t>
            </a:r>
          </a:p>
          <a:p>
            <a:pPr lvl="1">
              <a:lnSpc>
                <a:spcPct val="90000"/>
              </a:lnSpc>
            </a:pPr>
            <a:r>
              <a:rPr lang="en-US" sz="1500" dirty="0">
                <a:solidFill>
                  <a:srgbClr val="FFFFFF"/>
                </a:solidFill>
              </a:rPr>
              <a:t>A result of using pretrained weights – the model initially gets worse as it ‘unlearns’ certain features</a:t>
            </a:r>
          </a:p>
          <a:p>
            <a:pPr>
              <a:lnSpc>
                <a:spcPct val="90000"/>
              </a:lnSpc>
            </a:pPr>
            <a:r>
              <a:rPr lang="en-US" sz="1700" dirty="0">
                <a:solidFill>
                  <a:srgbClr val="FFFFFF"/>
                </a:solidFill>
              </a:rPr>
              <a:t>SSL stability</a:t>
            </a:r>
          </a:p>
          <a:p>
            <a:pPr lvl="1">
              <a:lnSpc>
                <a:spcPct val="90000"/>
              </a:lnSpc>
            </a:pPr>
            <a:r>
              <a:rPr lang="en-US" sz="1500" dirty="0">
                <a:solidFill>
                  <a:srgbClr val="FFFFFF"/>
                </a:solidFill>
              </a:rPr>
              <a:t>The performance of the model over multiple runs is much more consistent with SSL – likely because the total dataset is larger</a:t>
            </a:r>
          </a:p>
        </p:txBody>
      </p:sp>
      <p:sp>
        <p:nvSpPr>
          <p:cNvPr id="36" name="Rectangle 35">
            <a:extLst>
              <a:ext uri="{FF2B5EF4-FFF2-40B4-BE49-F238E27FC236}">
                <a16:creationId xmlns:a16="http://schemas.microsoft.com/office/drawing/2014/main" id="{DD0C6C3A-73B1-4E33-AD0D-8BCD35B71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460"/>
            <a:ext cx="9144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A graph of a line graph&#10;&#10;AI-generated content may be incorrect.">
            <a:extLst>
              <a:ext uri="{FF2B5EF4-FFF2-40B4-BE49-F238E27FC236}">
                <a16:creationId xmlns:a16="http://schemas.microsoft.com/office/drawing/2014/main" id="{936DDB70-8CD9-3D90-0ADE-737C77CBE688}"/>
              </a:ext>
            </a:extLst>
          </p:cNvPr>
          <p:cNvPicPr>
            <a:picLocks noChangeAspect="1"/>
          </p:cNvPicPr>
          <p:nvPr/>
        </p:nvPicPr>
        <p:blipFill>
          <a:blip r:embed="rId4"/>
          <a:srcRect l="1815" r="-4" b="-4"/>
          <a:stretch>
            <a:fillRect/>
          </a:stretch>
        </p:blipFill>
        <p:spPr>
          <a:xfrm>
            <a:off x="7053663" y="72570"/>
            <a:ext cx="4220294" cy="3223728"/>
          </a:xfrm>
          <a:prstGeom prst="rect">
            <a:avLst/>
          </a:prstGeom>
        </p:spPr>
      </p:pic>
      <p:sp>
        <p:nvSpPr>
          <p:cNvPr id="37" name="Rectangle 36">
            <a:extLst>
              <a:ext uri="{FF2B5EF4-FFF2-40B4-BE49-F238E27FC236}">
                <a16:creationId xmlns:a16="http://schemas.microsoft.com/office/drawing/2014/main" id="{303022F3-BFF5-4104-AE9A-399949DAF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3383280"/>
            <a:ext cx="12188952"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8" name="Picture 7" descr="A yellow and purple background&#10;&#10;AI-generated content may be incorrect.">
            <a:extLst>
              <a:ext uri="{FF2B5EF4-FFF2-40B4-BE49-F238E27FC236}">
                <a16:creationId xmlns:a16="http://schemas.microsoft.com/office/drawing/2014/main" id="{3D419CBE-0522-4297-8C41-26FBA7696163}"/>
              </a:ext>
            </a:extLst>
          </p:cNvPr>
          <p:cNvPicPr>
            <a:picLocks noChangeAspect="1"/>
          </p:cNvPicPr>
          <p:nvPr/>
        </p:nvPicPr>
        <p:blipFill>
          <a:blip r:embed="rId5"/>
          <a:stretch>
            <a:fillRect/>
          </a:stretch>
        </p:blipFill>
        <p:spPr>
          <a:xfrm>
            <a:off x="6279214" y="4238412"/>
            <a:ext cx="5772578" cy="1861654"/>
          </a:xfrm>
          <a:prstGeom prst="rect">
            <a:avLst/>
          </a:prstGeom>
        </p:spPr>
      </p:pic>
    </p:spTree>
    <p:extLst>
      <p:ext uri="{BB962C8B-B14F-4D97-AF65-F5344CB8AC3E}">
        <p14:creationId xmlns:p14="http://schemas.microsoft.com/office/powerpoint/2010/main" val="285038883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7249D6CF-A34D-4D57-A9A0-D708CC899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11819"/>
            <a:ext cx="4576634" cy="4235946"/>
          </a:xfrm>
          <a:prstGeom prst="rect">
            <a:avLst/>
          </a:prstGeom>
          <a:solidFill>
            <a:schemeClr val="accent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A5B3158E-7494-7D8B-A191-3C5588E62C85}"/>
              </a:ext>
            </a:extLst>
          </p:cNvPr>
          <p:cNvSpPr>
            <a:spLocks noGrp="1"/>
          </p:cNvSpPr>
          <p:nvPr>
            <p:ph type="title"/>
          </p:nvPr>
        </p:nvSpPr>
        <p:spPr>
          <a:xfrm>
            <a:off x="584200" y="3066617"/>
            <a:ext cx="3412067" cy="897047"/>
          </a:xfrm>
        </p:spPr>
        <p:txBody>
          <a:bodyPr anchor="ctr">
            <a:normAutofit/>
          </a:bodyPr>
          <a:lstStyle/>
          <a:p>
            <a:pPr>
              <a:lnSpc>
                <a:spcPct val="90000"/>
              </a:lnSpc>
            </a:pPr>
            <a:r>
              <a:rPr lang="en-AU" sz="2000"/>
              <a:t>Results – Performance Improvements</a:t>
            </a:r>
          </a:p>
        </p:txBody>
      </p:sp>
      <p:sp>
        <p:nvSpPr>
          <p:cNvPr id="9" name="Content Placeholder 8">
            <a:extLst>
              <a:ext uri="{FF2B5EF4-FFF2-40B4-BE49-F238E27FC236}">
                <a16:creationId xmlns:a16="http://schemas.microsoft.com/office/drawing/2014/main" id="{1EC9B024-2971-45FB-C8D6-A1EBC6DDED03}"/>
              </a:ext>
            </a:extLst>
          </p:cNvPr>
          <p:cNvSpPr>
            <a:spLocks noGrp="1"/>
          </p:cNvSpPr>
          <p:nvPr>
            <p:ph idx="1"/>
          </p:nvPr>
        </p:nvSpPr>
        <p:spPr>
          <a:xfrm>
            <a:off x="0" y="3963664"/>
            <a:ext cx="4485193" cy="2574296"/>
          </a:xfrm>
        </p:spPr>
        <p:txBody>
          <a:bodyPr>
            <a:normAutofit/>
          </a:bodyPr>
          <a:lstStyle/>
          <a:p>
            <a:pPr>
              <a:lnSpc>
                <a:spcPct val="90000"/>
              </a:lnSpc>
            </a:pPr>
            <a:r>
              <a:rPr lang="en-US" dirty="0">
                <a:solidFill>
                  <a:schemeClr val="bg1"/>
                </a:solidFill>
              </a:rPr>
              <a:t>When the labelled proportion is very small or very large, SSL has no significant benefit</a:t>
            </a:r>
          </a:p>
          <a:p>
            <a:pPr>
              <a:lnSpc>
                <a:spcPct val="90000"/>
              </a:lnSpc>
            </a:pPr>
            <a:r>
              <a:rPr lang="en-US" dirty="0">
                <a:solidFill>
                  <a:schemeClr val="bg1"/>
                </a:solidFill>
              </a:rPr>
              <a:t>For labelled proportions of 5%-20%, SSL showed an improvement in Dice score</a:t>
            </a:r>
            <a:br>
              <a:rPr lang="en-US" dirty="0">
                <a:solidFill>
                  <a:schemeClr val="bg1"/>
                </a:solidFill>
              </a:rPr>
            </a:br>
            <a:r>
              <a:rPr lang="en-US" dirty="0">
                <a:solidFill>
                  <a:schemeClr val="bg1"/>
                </a:solidFill>
              </a:rPr>
              <a:t>(p &lt; 0.0003)</a:t>
            </a:r>
          </a:p>
          <a:p>
            <a:pPr>
              <a:lnSpc>
                <a:spcPct val="90000"/>
              </a:lnSpc>
            </a:pPr>
            <a:r>
              <a:rPr lang="en-US" dirty="0">
                <a:solidFill>
                  <a:schemeClr val="bg1"/>
                </a:solidFill>
              </a:rPr>
              <a:t>SSL with 20% of dataset labelled achieves similar performance to fully-supervised on 100% of dataset.</a:t>
            </a:r>
          </a:p>
        </p:txBody>
      </p:sp>
      <p:pic>
        <p:nvPicPr>
          <p:cNvPr id="4" name="Picture 3" descr="A graph of numbers and lines&#10;&#10;AI-generated content may be incorrect.">
            <a:extLst>
              <a:ext uri="{FF2B5EF4-FFF2-40B4-BE49-F238E27FC236}">
                <a16:creationId xmlns:a16="http://schemas.microsoft.com/office/drawing/2014/main" id="{2ECE45C5-12DC-8279-D0F4-2CCC0F907F7F}"/>
              </a:ext>
            </a:extLst>
          </p:cNvPr>
          <p:cNvPicPr>
            <a:picLocks noChangeAspect="1"/>
          </p:cNvPicPr>
          <p:nvPr/>
        </p:nvPicPr>
        <p:blipFill>
          <a:blip r:embed="rId3"/>
          <a:srcRect l="106" r="346" b="-2"/>
          <a:stretch>
            <a:fillRect/>
          </a:stretch>
        </p:blipFill>
        <p:spPr>
          <a:xfrm>
            <a:off x="4530517" y="573552"/>
            <a:ext cx="7661483" cy="5733974"/>
          </a:xfrm>
          <a:prstGeom prst="rect">
            <a:avLst/>
          </a:prstGeom>
        </p:spPr>
      </p:pic>
      <p:sp>
        <p:nvSpPr>
          <p:cNvPr id="47" name="Rectangle 46">
            <a:extLst>
              <a:ext uri="{FF2B5EF4-FFF2-40B4-BE49-F238E27FC236}">
                <a16:creationId xmlns:a16="http://schemas.microsoft.com/office/drawing/2014/main" id="{B4D029B7-3794-4D7F-9926-D8D904D1DC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0517" y="-460"/>
            <a:ext cx="9144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4E574B2-AE89-43DB-AF2F-E4F02B35E2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 y="2560620"/>
            <a:ext cx="4581144"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3" name="Picture 2" descr="A table of dice with numbers&#10;&#10;AI-generated content may be incorrect.">
            <a:extLst>
              <a:ext uri="{FF2B5EF4-FFF2-40B4-BE49-F238E27FC236}">
                <a16:creationId xmlns:a16="http://schemas.microsoft.com/office/drawing/2014/main" id="{CA59DE74-B110-A45E-5A40-B713202601B9}"/>
              </a:ext>
            </a:extLst>
          </p:cNvPr>
          <p:cNvPicPr>
            <a:picLocks noChangeAspect="1"/>
          </p:cNvPicPr>
          <p:nvPr/>
        </p:nvPicPr>
        <p:blipFill>
          <a:blip r:embed="rId4"/>
          <a:srcRect l="1244" r="876" b="-2"/>
          <a:stretch>
            <a:fillRect/>
          </a:stretch>
        </p:blipFill>
        <p:spPr>
          <a:xfrm>
            <a:off x="20" y="10"/>
            <a:ext cx="4621938" cy="2608947"/>
          </a:xfrm>
          <a:prstGeom prst="rect">
            <a:avLst/>
          </a:prstGeom>
        </p:spPr>
      </p:pic>
    </p:spTree>
    <p:extLst>
      <p:ext uri="{BB962C8B-B14F-4D97-AF65-F5344CB8AC3E}">
        <p14:creationId xmlns:p14="http://schemas.microsoft.com/office/powerpoint/2010/main" val="3237839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EA2C8-9D1E-888C-1DAC-8933A041D7CB}"/>
              </a:ext>
            </a:extLst>
          </p:cNvPr>
          <p:cNvSpPr>
            <a:spLocks noGrp="1"/>
          </p:cNvSpPr>
          <p:nvPr>
            <p:ph type="title"/>
          </p:nvPr>
        </p:nvSpPr>
        <p:spPr/>
        <p:txBody>
          <a:bodyPr/>
          <a:lstStyle/>
          <a:p>
            <a:r>
              <a:rPr lang="en-AU" dirty="0"/>
              <a:t>Conclusion &amp; Further Work</a:t>
            </a:r>
          </a:p>
        </p:txBody>
      </p:sp>
      <p:sp>
        <p:nvSpPr>
          <p:cNvPr id="3" name="Content Placeholder 2">
            <a:extLst>
              <a:ext uri="{FF2B5EF4-FFF2-40B4-BE49-F238E27FC236}">
                <a16:creationId xmlns:a16="http://schemas.microsoft.com/office/drawing/2014/main" id="{42818636-0290-EF2F-2563-C58C327FE248}"/>
              </a:ext>
            </a:extLst>
          </p:cNvPr>
          <p:cNvSpPr>
            <a:spLocks noGrp="1"/>
          </p:cNvSpPr>
          <p:nvPr>
            <p:ph idx="1"/>
          </p:nvPr>
        </p:nvSpPr>
        <p:spPr>
          <a:xfrm>
            <a:off x="581192" y="2180496"/>
            <a:ext cx="11029615" cy="4290642"/>
          </a:xfrm>
        </p:spPr>
        <p:txBody>
          <a:bodyPr>
            <a:normAutofit/>
          </a:bodyPr>
          <a:lstStyle/>
          <a:p>
            <a:r>
              <a:rPr lang="en-AU" sz="2800" dirty="0"/>
              <a:t>Consistency regularisation between modalities is a viable way to include unlabelled data during training!</a:t>
            </a:r>
          </a:p>
          <a:p>
            <a:r>
              <a:rPr lang="en-AU" sz="2800" dirty="0"/>
              <a:t>SSL with moderately small (~20%) proportions of the labelled dataset can rival fully supervised learning on the entire dataset</a:t>
            </a:r>
          </a:p>
          <a:p>
            <a:r>
              <a:rPr lang="en-AU" sz="2800" dirty="0"/>
              <a:t>Yet to be seen:</a:t>
            </a:r>
          </a:p>
          <a:p>
            <a:pPr lvl="1"/>
            <a:r>
              <a:rPr lang="en-AU" sz="2400" dirty="0"/>
              <a:t>Whether this improvement holds up for more complicated tasks</a:t>
            </a:r>
          </a:p>
          <a:p>
            <a:pPr lvl="1"/>
            <a:r>
              <a:rPr lang="en-AU" sz="2400" dirty="0"/>
              <a:t>Whether this will still improve performance when combined with existing methods</a:t>
            </a:r>
          </a:p>
        </p:txBody>
      </p:sp>
    </p:spTree>
    <p:extLst>
      <p:ext uri="{BB962C8B-B14F-4D97-AF65-F5344CB8AC3E}">
        <p14:creationId xmlns:p14="http://schemas.microsoft.com/office/powerpoint/2010/main" val="389502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5F4D4F0-3295-486A-8BEF-DC288645B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56" name="Rectangle 1055">
            <a:extLst>
              <a:ext uri="{FF2B5EF4-FFF2-40B4-BE49-F238E27FC236}">
                <a16:creationId xmlns:a16="http://schemas.microsoft.com/office/drawing/2014/main" id="{EB4E2B5E-BDFA-45FB-B388-F7D4AAEB6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57" name="Rectangle 1056">
            <a:extLst>
              <a:ext uri="{FF2B5EF4-FFF2-40B4-BE49-F238E27FC236}">
                <a16:creationId xmlns:a16="http://schemas.microsoft.com/office/drawing/2014/main" id="{446F8842-021D-4754-B531-2E441E97B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58" name="Rectangle 1057">
            <a:extLst>
              <a:ext uri="{FF2B5EF4-FFF2-40B4-BE49-F238E27FC236}">
                <a16:creationId xmlns:a16="http://schemas.microsoft.com/office/drawing/2014/main" id="{470EFBAD-ECC0-4629-BBD0-98A48DDB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EE1F2E8F-9307-EDDA-CF12-730EC938D41E}"/>
              </a:ext>
            </a:extLst>
          </p:cNvPr>
          <p:cNvSpPr>
            <a:spLocks noGrp="1"/>
          </p:cNvSpPr>
          <p:nvPr>
            <p:ph type="title"/>
          </p:nvPr>
        </p:nvSpPr>
        <p:spPr>
          <a:xfrm>
            <a:off x="595715" y="4242614"/>
            <a:ext cx="10584869" cy="709459"/>
          </a:xfrm>
        </p:spPr>
        <p:txBody>
          <a:bodyPr vert="horz" lIns="91440" tIns="45720" rIns="91440" bIns="45720" rtlCol="0" anchor="b">
            <a:normAutofit/>
          </a:bodyPr>
          <a:lstStyle/>
          <a:p>
            <a:r>
              <a:rPr lang="en-US" sz="2400" dirty="0"/>
              <a:t>APPENDIX: Convolutional Neural Networks (CNNs)</a:t>
            </a:r>
          </a:p>
        </p:txBody>
      </p:sp>
      <p:sp useBgFill="1">
        <p:nvSpPr>
          <p:cNvPr id="1059" name="Rectangle 1058">
            <a:extLst>
              <a:ext uri="{FF2B5EF4-FFF2-40B4-BE49-F238E27FC236}">
                <a16:creationId xmlns:a16="http://schemas.microsoft.com/office/drawing/2014/main" id="{3C628367-65ED-4083-A10E-C5C04B19A6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158A2754-A34B-9BD7-3864-00F80CAB19FF}"/>
              </a:ext>
            </a:extLst>
          </p:cNvPr>
          <p:cNvPicPr>
            <a:picLocks noGrp="1" noChangeAspect="1"/>
          </p:cNvPicPr>
          <p:nvPr>
            <p:ph idx="1"/>
          </p:nvPr>
        </p:nvPicPr>
        <p:blipFill>
          <a:blip r:embed="rId3"/>
          <a:srcRect t="7584" r="2" b="11449"/>
          <a:stretch>
            <a:fillRect/>
          </a:stretch>
        </p:blipFill>
        <p:spPr>
          <a:xfrm>
            <a:off x="775361" y="1354442"/>
            <a:ext cx="3014297" cy="2281993"/>
          </a:xfrm>
          <a:prstGeom prst="rect">
            <a:avLst/>
          </a:prstGeom>
        </p:spPr>
      </p:pic>
      <p:sp>
        <p:nvSpPr>
          <p:cNvPr id="1060" name="Rectangle 1059">
            <a:extLst>
              <a:ext uri="{FF2B5EF4-FFF2-40B4-BE49-F238E27FC236}">
                <a16:creationId xmlns:a16="http://schemas.microsoft.com/office/drawing/2014/main" id="{5B6EF0D6-A6A9-4418-8757-430B2AC24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aper image">
            <a:extLst>
              <a:ext uri="{FF2B5EF4-FFF2-40B4-BE49-F238E27FC236}">
                <a16:creationId xmlns:a16="http://schemas.microsoft.com/office/drawing/2014/main" id="{2D85C884-5F34-0816-B885-428DCD84FC3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580182" y="1438226"/>
            <a:ext cx="6820731" cy="2114424"/>
          </a:xfrm>
          <a:prstGeom prst="rect">
            <a:avLst/>
          </a:prstGeom>
          <a:noFill/>
          <a:extLst>
            <a:ext uri="{909E8E84-426E-40DD-AFC4-6F175D3DCCD1}">
              <a14:hiddenFill xmlns:a14="http://schemas.microsoft.com/office/drawing/2010/main">
                <a:solidFill>
                  <a:srgbClr val="FFFFFF"/>
                </a:solidFill>
              </a14:hiddenFill>
            </a:ext>
          </a:extLst>
        </p:spPr>
      </p:pic>
      <p:sp>
        <p:nvSpPr>
          <p:cNvPr id="1061" name="Rectangle 1060">
            <a:extLst>
              <a:ext uri="{FF2B5EF4-FFF2-40B4-BE49-F238E27FC236}">
                <a16:creationId xmlns:a16="http://schemas.microsoft.com/office/drawing/2014/main" id="{20495515-692D-4A6C-AC6B-5F6F4C6BE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0614B284-138A-48FE-8867-DF9A31B32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1D3FDF-E138-5BF7-129D-498620DD296E}"/>
              </a:ext>
            </a:extLst>
          </p:cNvPr>
          <p:cNvSpPr txBox="1"/>
          <p:nvPr/>
        </p:nvSpPr>
        <p:spPr>
          <a:xfrm>
            <a:off x="1249372" y="3966963"/>
            <a:ext cx="2075376" cy="276999"/>
          </a:xfrm>
          <a:prstGeom prst="rect">
            <a:avLst/>
          </a:prstGeom>
          <a:noFill/>
        </p:spPr>
        <p:txBody>
          <a:bodyPr wrap="none" rtlCol="0">
            <a:spAutoFit/>
          </a:bodyPr>
          <a:lstStyle/>
          <a:p>
            <a:r>
              <a:rPr lang="en-AU" sz="1200" dirty="0"/>
              <a:t>Image credit: Wikipedia. (2025)</a:t>
            </a:r>
          </a:p>
        </p:txBody>
      </p:sp>
      <p:sp>
        <p:nvSpPr>
          <p:cNvPr id="6" name="TextBox 5">
            <a:extLst>
              <a:ext uri="{FF2B5EF4-FFF2-40B4-BE49-F238E27FC236}">
                <a16:creationId xmlns:a16="http://schemas.microsoft.com/office/drawing/2014/main" id="{E33173C3-1913-1D4E-F6EC-E8CD6CD6F4D6}"/>
              </a:ext>
            </a:extLst>
          </p:cNvPr>
          <p:cNvSpPr txBox="1"/>
          <p:nvPr/>
        </p:nvSpPr>
        <p:spPr>
          <a:xfrm>
            <a:off x="5315855" y="3936185"/>
            <a:ext cx="5452583" cy="307777"/>
          </a:xfrm>
          <a:prstGeom prst="rect">
            <a:avLst/>
          </a:prstGeom>
          <a:noFill/>
        </p:spPr>
        <p:txBody>
          <a:bodyPr wrap="none" rtlCol="0">
            <a:spAutoFit/>
          </a:bodyPr>
          <a:lstStyle/>
          <a:p>
            <a:r>
              <a:rPr lang="en-AU" sz="1400" dirty="0"/>
              <a:t>Image credit: </a:t>
            </a:r>
            <a:r>
              <a:rPr lang="en-AU" sz="1400" dirty="0" err="1"/>
              <a:t>Zhuwei</a:t>
            </a:r>
            <a:r>
              <a:rPr lang="en-AU" sz="1400" dirty="0"/>
              <a:t> Qin, </a:t>
            </a:r>
            <a:r>
              <a:rPr lang="en-AU" sz="1400" dirty="0" err="1"/>
              <a:t>Fuxun</a:t>
            </a:r>
            <a:r>
              <a:rPr lang="en-AU" sz="1400" dirty="0"/>
              <a:t> Yu, Chenchen Liu, &amp; Xiang Chen. (2018)</a:t>
            </a:r>
          </a:p>
        </p:txBody>
      </p:sp>
      <p:sp>
        <p:nvSpPr>
          <p:cNvPr id="10" name="Content Placeholder 8">
            <a:extLst>
              <a:ext uri="{FF2B5EF4-FFF2-40B4-BE49-F238E27FC236}">
                <a16:creationId xmlns:a16="http://schemas.microsoft.com/office/drawing/2014/main" id="{313BA2F6-6933-23ED-3A65-1A1844AD15F4}"/>
              </a:ext>
            </a:extLst>
          </p:cNvPr>
          <p:cNvSpPr txBox="1">
            <a:spLocks/>
          </p:cNvSpPr>
          <p:nvPr/>
        </p:nvSpPr>
        <p:spPr>
          <a:xfrm>
            <a:off x="581192" y="5122042"/>
            <a:ext cx="10931361" cy="1268523"/>
          </a:xfrm>
          <a:prstGeom prst="rect">
            <a:avLst/>
          </a:prstGeom>
        </p:spPr>
        <p:txBody>
          <a:bodyPr vert="horz" lIns="91440" tIns="45720" rIns="91440" bIns="45720" numCol="2"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n-US" sz="1600" dirty="0">
                <a:solidFill>
                  <a:schemeClr val="bg1"/>
                </a:solidFill>
              </a:rPr>
              <a:t>Used for tasks involving images</a:t>
            </a:r>
          </a:p>
          <a:p>
            <a:pPr>
              <a:lnSpc>
                <a:spcPct val="90000"/>
              </a:lnSpc>
            </a:pPr>
            <a:r>
              <a:rPr lang="en-US" sz="1600" dirty="0">
                <a:solidFill>
                  <a:schemeClr val="bg1"/>
                </a:solidFill>
              </a:rPr>
              <a:t>Model optimizes the convolution kernels</a:t>
            </a:r>
          </a:p>
          <a:p>
            <a:pPr marL="0" indent="0">
              <a:lnSpc>
                <a:spcPct val="90000"/>
              </a:lnSpc>
              <a:buNone/>
            </a:pPr>
            <a:endParaRPr lang="en-US" sz="1600" dirty="0">
              <a:solidFill>
                <a:schemeClr val="bg1"/>
              </a:solidFill>
            </a:endParaRPr>
          </a:p>
          <a:p>
            <a:pPr>
              <a:lnSpc>
                <a:spcPct val="90000"/>
              </a:lnSpc>
            </a:pPr>
            <a:r>
              <a:rPr lang="en-US" sz="1600" dirty="0">
                <a:solidFill>
                  <a:schemeClr val="bg1"/>
                </a:solidFill>
              </a:rPr>
              <a:t>Dimension of image information usually progressively reduced throughout the network to extract high-level features</a:t>
            </a:r>
          </a:p>
          <a:p>
            <a:pPr>
              <a:lnSpc>
                <a:spcPct val="90000"/>
              </a:lnSpc>
            </a:pPr>
            <a:r>
              <a:rPr lang="en-US" sz="1600" dirty="0">
                <a:solidFill>
                  <a:schemeClr val="bg1"/>
                </a:solidFill>
              </a:rPr>
              <a:t>CNNs have less weights than other methods</a:t>
            </a:r>
            <a:endParaRPr lang="en-US" sz="1400" dirty="0">
              <a:solidFill>
                <a:schemeClr val="bg1"/>
              </a:solidFill>
            </a:endParaRPr>
          </a:p>
        </p:txBody>
      </p:sp>
    </p:spTree>
    <p:extLst>
      <p:ext uri="{BB962C8B-B14F-4D97-AF65-F5344CB8AC3E}">
        <p14:creationId xmlns:p14="http://schemas.microsoft.com/office/powerpoint/2010/main" val="257879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078EA-2DE3-902A-B7C8-E2DF6E4F4CB0}"/>
              </a:ext>
            </a:extLst>
          </p:cNvPr>
          <p:cNvSpPr>
            <a:spLocks noGrp="1"/>
          </p:cNvSpPr>
          <p:nvPr>
            <p:ph type="title"/>
          </p:nvPr>
        </p:nvSpPr>
        <p:spPr>
          <a:xfrm>
            <a:off x="581192" y="702156"/>
            <a:ext cx="11029616" cy="1013800"/>
          </a:xfrm>
        </p:spPr>
        <p:txBody>
          <a:bodyPr>
            <a:normAutofit/>
          </a:bodyPr>
          <a:lstStyle/>
          <a:p>
            <a:r>
              <a:rPr lang="en-AU" dirty="0"/>
              <a:t>Appendix: k-Fold Cross-Validation </a:t>
            </a:r>
          </a:p>
        </p:txBody>
      </p:sp>
      <p:sp>
        <p:nvSpPr>
          <p:cNvPr id="9" name="Rectangle 8">
            <a:extLst>
              <a:ext uri="{FF2B5EF4-FFF2-40B4-BE49-F238E27FC236}">
                <a16:creationId xmlns:a16="http://schemas.microsoft.com/office/drawing/2014/main" id="{E83CCD68-169B-401E-9352-6930D4A6E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C98E706C-3B19-C7A5-E401-8F4DC3F3AA7C}"/>
              </a:ext>
            </a:extLst>
          </p:cNvPr>
          <p:cNvPicPr>
            <a:picLocks noChangeAspect="1"/>
          </p:cNvPicPr>
          <p:nvPr/>
        </p:nvPicPr>
        <p:blipFill>
          <a:blip r:embed="rId3"/>
          <a:stretch>
            <a:fillRect/>
          </a:stretch>
        </p:blipFill>
        <p:spPr>
          <a:xfrm>
            <a:off x="476619" y="2557670"/>
            <a:ext cx="3647118" cy="3273287"/>
          </a:xfrm>
          <a:prstGeom prst="rect">
            <a:avLst/>
          </a:prstGeom>
        </p:spPr>
      </p:pic>
      <p:sp>
        <p:nvSpPr>
          <p:cNvPr id="3" name="Content Placeholder 2">
            <a:extLst>
              <a:ext uri="{FF2B5EF4-FFF2-40B4-BE49-F238E27FC236}">
                <a16:creationId xmlns:a16="http://schemas.microsoft.com/office/drawing/2014/main" id="{43127C71-FDB4-5F5B-2C05-F92A6CB5CA68}"/>
              </a:ext>
            </a:extLst>
          </p:cNvPr>
          <p:cNvSpPr>
            <a:spLocks noGrp="1"/>
          </p:cNvSpPr>
          <p:nvPr>
            <p:ph idx="1"/>
          </p:nvPr>
        </p:nvSpPr>
        <p:spPr>
          <a:xfrm>
            <a:off x="4505325" y="2180496"/>
            <a:ext cx="7105481" cy="4045683"/>
          </a:xfrm>
        </p:spPr>
        <p:txBody>
          <a:bodyPr>
            <a:normAutofit/>
          </a:bodyPr>
          <a:lstStyle/>
          <a:p>
            <a:r>
              <a:rPr lang="en-AU" sz="2400" dirty="0"/>
              <a:t>The 369 volumes are shuffled and split into 4 groups of 74 and one remaining group of 73</a:t>
            </a:r>
          </a:p>
          <a:p>
            <a:r>
              <a:rPr lang="en-AU" sz="2400" dirty="0"/>
              <a:t>The model was trained 5 times – once with each as the </a:t>
            </a:r>
            <a:r>
              <a:rPr lang="en-AU" sz="2400" i="1" dirty="0"/>
              <a:t>validation dataset, </a:t>
            </a:r>
            <a:r>
              <a:rPr lang="en-AU" sz="2400" dirty="0"/>
              <a:t>and the remaining as the</a:t>
            </a:r>
            <a:r>
              <a:rPr lang="en-AU" sz="2400" i="1" dirty="0"/>
              <a:t> training datasets</a:t>
            </a:r>
          </a:p>
          <a:p>
            <a:r>
              <a:rPr lang="en-AU" sz="2400" dirty="0"/>
              <a:t>Within the training dataset, a small number of volumes are kept as labelled data, and the labels are removed the remaining volumes.</a:t>
            </a:r>
          </a:p>
        </p:txBody>
      </p:sp>
    </p:spTree>
    <p:extLst>
      <p:ext uri="{BB962C8B-B14F-4D97-AF65-F5344CB8AC3E}">
        <p14:creationId xmlns:p14="http://schemas.microsoft.com/office/powerpoint/2010/main" val="266043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4C337-B731-5E6D-94CE-C59A32113A8D}"/>
              </a:ext>
            </a:extLst>
          </p:cNvPr>
          <p:cNvSpPr>
            <a:spLocks noGrp="1"/>
          </p:cNvSpPr>
          <p:nvPr>
            <p:ph type="title"/>
          </p:nvPr>
        </p:nvSpPr>
        <p:spPr/>
        <p:txBody>
          <a:bodyPr/>
          <a:lstStyle/>
          <a:p>
            <a:r>
              <a:rPr lang="en-AU" dirty="0"/>
              <a:t>Appendix: Training</a:t>
            </a:r>
          </a:p>
        </p:txBody>
      </p:sp>
      <p:sp>
        <p:nvSpPr>
          <p:cNvPr id="3" name="Content Placeholder 2">
            <a:extLst>
              <a:ext uri="{FF2B5EF4-FFF2-40B4-BE49-F238E27FC236}">
                <a16:creationId xmlns:a16="http://schemas.microsoft.com/office/drawing/2014/main" id="{4B016CD6-10DE-EEBE-B491-21F9540AC0DC}"/>
              </a:ext>
            </a:extLst>
          </p:cNvPr>
          <p:cNvSpPr>
            <a:spLocks noGrp="1"/>
          </p:cNvSpPr>
          <p:nvPr>
            <p:ph idx="1"/>
          </p:nvPr>
        </p:nvSpPr>
        <p:spPr>
          <a:xfrm>
            <a:off x="581192" y="2477541"/>
            <a:ext cx="11029615" cy="3678303"/>
          </a:xfrm>
        </p:spPr>
        <p:txBody>
          <a:bodyPr>
            <a:normAutofit/>
          </a:bodyPr>
          <a:lstStyle/>
          <a:p>
            <a:r>
              <a:rPr lang="en-AU" sz="2400" dirty="0"/>
              <a:t>Training loop:</a:t>
            </a:r>
          </a:p>
          <a:p>
            <a:pPr lvl="1"/>
            <a:r>
              <a:rPr lang="en-AU" sz="2000" dirty="0"/>
              <a:t>Instantiate the model with pretrained weights in the contracting path and random weights in the expanding path</a:t>
            </a:r>
          </a:p>
          <a:p>
            <a:pPr lvl="1"/>
            <a:r>
              <a:rPr lang="en-AU" sz="2000" dirty="0"/>
              <a:t>Take a batch of labelled data and produce predictions, and take a batch of unlabelled data (each batch taken from the training dataset)</a:t>
            </a:r>
          </a:p>
          <a:p>
            <a:pPr lvl="1"/>
            <a:r>
              <a:rPr lang="en-AU" sz="2000" dirty="0"/>
              <a:t>Compute the total loss (supervised + unsupervised with weight schedule)</a:t>
            </a:r>
          </a:p>
          <a:p>
            <a:pPr lvl="1"/>
            <a:r>
              <a:rPr lang="en-AU" sz="2000" dirty="0"/>
              <a:t>Update model parameters by computing the gradient of the total loss</a:t>
            </a:r>
          </a:p>
          <a:p>
            <a:pPr lvl="1"/>
            <a:r>
              <a:rPr lang="en-AU" sz="2000" dirty="0"/>
              <a:t>At regular intervals, compute the mean Dice score on the validation dataset; stop training once this stops increasing</a:t>
            </a:r>
          </a:p>
          <a:p>
            <a:endParaRPr lang="en-AU" sz="2400" dirty="0"/>
          </a:p>
        </p:txBody>
      </p:sp>
    </p:spTree>
    <p:extLst>
      <p:ext uri="{BB962C8B-B14F-4D97-AF65-F5344CB8AC3E}">
        <p14:creationId xmlns:p14="http://schemas.microsoft.com/office/powerpoint/2010/main" val="332082450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3432</TotalTime>
  <Words>3073</Words>
  <Application>Microsoft Macintosh PowerPoint</Application>
  <PresentationFormat>Widescreen</PresentationFormat>
  <Paragraphs>205</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Cambria Math</vt:lpstr>
      <vt:lpstr>Gill Sans MT</vt:lpstr>
      <vt:lpstr>Wingdings 2</vt:lpstr>
      <vt:lpstr>Dividend</vt:lpstr>
      <vt:lpstr>Cross-Modality Consistency Regularisation for Semi-Supervised Learning</vt:lpstr>
      <vt:lpstr>Problem: Image Segmentation</vt:lpstr>
      <vt:lpstr>Our Focus – BratS Dataset</vt:lpstr>
      <vt:lpstr>Why Semi-Supervised Learning (SSL)?</vt:lpstr>
      <vt:lpstr>U-Net Architecture &amp; Pretrained networks</vt:lpstr>
      <vt:lpstr>Training U-Nets - Supervised Learning</vt:lpstr>
      <vt:lpstr>Evaluating Segmentations: The Dice Metric &amp; Dice Loss</vt:lpstr>
      <vt:lpstr>The Focus of this Work - Custom Consistency Loss</vt:lpstr>
      <vt:lpstr>Comparing Supervised and Semi-Supervised Learning</vt:lpstr>
      <vt:lpstr>features seen During Training</vt:lpstr>
      <vt:lpstr>Results – Performance Improvements</vt:lpstr>
      <vt:lpstr>Conclusion &amp; Further Work</vt:lpstr>
      <vt:lpstr>APPENDIX: Convolutional Neural Networks (CNNs)</vt:lpstr>
      <vt:lpstr>Appendix: k-Fold Cross-Validation </vt:lpstr>
      <vt:lpstr>Appendix: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Johnston</dc:creator>
  <cp:lastModifiedBy>Jay Johnston</cp:lastModifiedBy>
  <cp:revision>33</cp:revision>
  <dcterms:created xsi:type="dcterms:W3CDTF">2025-10-18T11:57:45Z</dcterms:created>
  <dcterms:modified xsi:type="dcterms:W3CDTF">2025-10-22T12:52:37Z</dcterms:modified>
</cp:coreProperties>
</file>